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62" r:id="rId4"/>
    <p:sldId id="260" r:id="rId5"/>
    <p:sldId id="267" r:id="rId6"/>
    <p:sldId id="268" r:id="rId7"/>
    <p:sldId id="269" r:id="rId8"/>
    <p:sldId id="270" r:id="rId9"/>
    <p:sldId id="271" r:id="rId10"/>
    <p:sldId id="272" r:id="rId11"/>
    <p:sldId id="263" r:id="rId12"/>
    <p:sldId id="264" r:id="rId13"/>
    <p:sldId id="265" r:id="rId1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124" d="100"/>
          <a:sy n="124" d="100"/>
        </p:scale>
        <p:origin x="19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9074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Welcome everyone. Today we present Neo-Sentry 1.0 — a revolutionary affordable neonatal intelligence ecosystem. This system can save premature infants through touchless monitoring, atmospheric automation, and IoT telemetry. What you're seeing is the future of neonatal care. [TRANSITION: Fade to black, then reveal the crisis statistics]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Let's start with a sobering reality. Every year, 13.4 million babies are born premature worldwide. The NICU infrastructure needed to save them costs ₹5–7 Lakhs per incubator — completely unaffordable for most hospitals in developing nations. Physical-contact monitoring increases hospital-acquired infections, and manual observation creates dangerous delays. This is a crisis that demands innovation. [TRANSITION: Dramatic cut to problem breakdown. Suggest using 'Morph' transition for statistics to animate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This slide makes the case crystal clear. On the left — commercial NICU systems at ₹5 to 7 Lakhs with physical contact sensors, high infection risk, no remote alerting, and limited to urban hospitals. On the right — Neo-Sentry at just ₹2,630 with completely touchless optical monitoring, near-zero infection risk, universal ntfy.sh alerts to any device, and deployable anywhere including rural areas. The key highlight: 99.95% cost reduction while actually improving safety and accessibility. This isn't incremental improvement — it's a paradigm shift. [TRANSITION: Smooth fade to future roadmap]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Let me walk you through the engineering. At the core is an ESP32 dual-core processor running at 240MHz with built-in Wi-Fi and Bluetooth. The sensor array includes a DHT22 for temperature and humidity, MAX30105 for SpO2 and pulse oximetry, PAJ7620 for touchless gesture recognition, and MQ-135 for air quality monitoring. The automation layer handles DC fan PWM control and heater relay switching based on threshold logic. Telemetry goes through ntfy.sh — a zero-cost HTTP push notification service. And the OLED SSD1306 display provides real-time local readouts. The entire system costs just ₹2,630. [TRANSITION: Wipe to live demo. Suggest 'Reveal' transition]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Looking ahead, Neo-Sentry's roadmap is ambitious. Phase 1: TinyML apnea prediction — running machine learning models directly on the ESP32 to detect apnea events before they become critical, with sub-100ms inference time. Phase 2: Federated ward intelligence — multiple units sharing anonymized learnings across the ward while keeping patient data decentralized. Phase 3: ESP32-CAM computer vision for movement tracking, skin color analysis, and position detection, all processed at the edge. Phase 4: Cloud-connected predictive analytics dashboard for cross-facility neonatal risk scoring. [TRANSITION: Expand to global vision. Use 'Morph' with world map appearing]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The vision extends far beyond a single device. For rural healthcare — 68% of births in rural areas lack any NICU access. Neo-Sentry can bring monitoring-grade care to primary health centers and community hospitals. For global accessibility — with an open-source hardware design, local manufacturing becomes possible across 184 countries with inadequate neonatal infrastructure. For affordable survival — at ₹2,630 per unit, this technology has the potential to impact over one million lives annually. This is about making neonatal survival a right, not a privilege. [TRANSITION: Dramatic slow fade to final slide. Long pause before the closing statement appears]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US" dirty="0"/>
              <a:t>(Pause for 3 seconds before speaking) Every premature heartbeat deserves a future. That's not just our tagline — it's our mission. Neo-Sentry 1.0 proves that life-saving neonatal technology doesn't have to cost lakhs. It can cost ₹2,630. It can be touchless. It can be smart. And it can reach every corner of the world. Thank you. [END: Hold this slide. Allow the visual to resonate. Do not rush to Q&amp;A — let the audience feel the weight of the message. Suggest a 5-second pause before opening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8.jpeg"/><Relationship Id="rId1" Type="http://schemas.openxmlformats.org/officeDocument/2006/relationships/slideLayout" Target="../slideLayouts/slideLayout1.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9.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8183" y="-1"/>
            <a:ext cx="9144000" cy="5143500"/>
          </a:xfrm>
          <a:prstGeom prst="rect">
            <a:avLst/>
          </a:prstGeom>
          <a:solidFill>
            <a:srgbClr val="000000">
              <a:alpha val="55000"/>
            </a:srgbClr>
          </a:solidFill>
          <a:ln/>
        </p:spPr>
        <p:txBody>
          <a:bodyPr/>
          <a:lstStyle/>
          <a:p>
            <a:endParaRPr lang="en-IN"/>
          </a:p>
        </p:txBody>
      </p:sp>
      <p:sp>
        <p:nvSpPr>
          <p:cNvPr id="3" name="Shape 1"/>
          <p:cNvSpPr/>
          <p:nvPr/>
        </p:nvSpPr>
        <p:spPr>
          <a:xfrm>
            <a:off x="6217919" y="4155991"/>
            <a:ext cx="2743199" cy="838040"/>
          </a:xfrm>
          <a:prstGeom prst="rect">
            <a:avLst/>
          </a:prstGeom>
          <a:solidFill>
            <a:srgbClr val="081120">
              <a:alpha val="80000"/>
            </a:srgbClr>
          </a:solidFill>
          <a:ln/>
        </p:spPr>
        <p:txBody>
          <a:bodyPr/>
          <a:lstStyle/>
          <a:p>
            <a:r>
              <a:rPr lang="en-IN" sz="1200" dirty="0">
                <a:solidFill>
                  <a:schemeClr val="bg1"/>
                </a:solidFill>
                <a:latin typeface="Arial" panose="020B0604020202020204" pitchFamily="34" charset="0"/>
                <a:cs typeface="Arial" panose="020B0604020202020204" pitchFamily="34" charset="0"/>
              </a:rPr>
              <a:t>Project Guide: Dr. Ruchi Gajjar</a:t>
            </a:r>
          </a:p>
          <a:p>
            <a:r>
              <a:rPr lang="en-IN" sz="1200" dirty="0">
                <a:solidFill>
                  <a:schemeClr val="bg1"/>
                </a:solidFill>
                <a:latin typeface="Arial" panose="020B0604020202020204" pitchFamily="34" charset="0"/>
                <a:cs typeface="Arial" panose="020B0604020202020204" pitchFamily="34" charset="0"/>
              </a:rPr>
              <a:t>Presented by</a:t>
            </a:r>
          </a:p>
          <a:p>
            <a:r>
              <a:rPr lang="en-IN" sz="1200" dirty="0">
                <a:solidFill>
                  <a:schemeClr val="bg1"/>
                </a:solidFill>
                <a:latin typeface="Arial" panose="020B0604020202020204" pitchFamily="34" charset="0"/>
                <a:cs typeface="Arial" panose="020B0604020202020204" pitchFamily="34" charset="0"/>
              </a:rPr>
              <a:t>Vedanshi Bhatt and Bhavya Raval (Nirma University)</a:t>
            </a:r>
          </a:p>
        </p:txBody>
      </p:sp>
      <p:sp>
        <p:nvSpPr>
          <p:cNvPr id="4" name="Text 2"/>
          <p:cNvSpPr/>
          <p:nvPr/>
        </p:nvSpPr>
        <p:spPr>
          <a:xfrm>
            <a:off x="731520" y="1280160"/>
            <a:ext cx="7680960" cy="1097280"/>
          </a:xfrm>
          <a:prstGeom prst="rect">
            <a:avLst/>
          </a:prstGeom>
          <a:noFill/>
          <a:ln/>
        </p:spPr>
        <p:txBody>
          <a:bodyPr wrap="square" lIns="0" tIns="0" rIns="0" bIns="0" rtlCol="0" anchor="ctr"/>
          <a:lstStyle/>
          <a:p>
            <a:pPr marL="0" indent="0" algn="l">
              <a:buNone/>
            </a:pPr>
            <a:r>
              <a:rPr lang="en-US" sz="5200" b="1" kern="0" spc="800" dirty="0">
                <a:solidFill>
                  <a:srgbClr val="EAF6FF"/>
                </a:solidFill>
                <a:latin typeface="Arial Black" pitchFamily="34" charset="0"/>
                <a:ea typeface="Arial Black" pitchFamily="34" charset="-122"/>
                <a:cs typeface="Arial Black" pitchFamily="34" charset="-120"/>
              </a:rPr>
              <a:t>NEO-SENTRY 1.0</a:t>
            </a:r>
            <a:endParaRPr lang="en-US" sz="5200" dirty="0"/>
          </a:p>
        </p:txBody>
      </p:sp>
      <p:sp>
        <p:nvSpPr>
          <p:cNvPr id="5" name="Shape 3"/>
          <p:cNvSpPr/>
          <p:nvPr/>
        </p:nvSpPr>
        <p:spPr>
          <a:xfrm>
            <a:off x="731520" y="2423160"/>
            <a:ext cx="2286000" cy="54864"/>
          </a:xfrm>
          <a:prstGeom prst="rect">
            <a:avLst/>
          </a:prstGeom>
          <a:solidFill>
            <a:srgbClr val="00D9FF"/>
          </a:solidFill>
          <a:ln/>
        </p:spPr>
        <p:txBody>
          <a:bodyPr/>
          <a:lstStyle/>
          <a:p>
            <a:endParaRPr lang="en-IN"/>
          </a:p>
        </p:txBody>
      </p:sp>
      <p:sp>
        <p:nvSpPr>
          <p:cNvPr id="6" name="Text 4"/>
          <p:cNvSpPr/>
          <p:nvPr/>
        </p:nvSpPr>
        <p:spPr>
          <a:xfrm>
            <a:off x="731520" y="2606040"/>
            <a:ext cx="7315200" cy="640080"/>
          </a:xfrm>
          <a:prstGeom prst="rect">
            <a:avLst/>
          </a:prstGeom>
          <a:noFill/>
          <a:ln/>
        </p:spPr>
        <p:txBody>
          <a:bodyPr wrap="square" lIns="0" tIns="0" rIns="0" bIns="0" rtlCol="0" anchor="ctr"/>
          <a:lstStyle/>
          <a:p>
            <a:pPr marL="0" indent="0" algn="l">
              <a:buNone/>
            </a:pPr>
            <a:r>
              <a:rPr lang="en-US" sz="2200" dirty="0">
                <a:solidFill>
                  <a:srgbClr val="00D9FF"/>
                </a:solidFill>
                <a:latin typeface="Arial" pitchFamily="34" charset="0"/>
                <a:ea typeface="Arial" pitchFamily="34" charset="-122"/>
                <a:cs typeface="Arial" pitchFamily="34" charset="-120"/>
              </a:rPr>
              <a:t>Touchless Neonatal Intelligence</a:t>
            </a:r>
            <a:endParaRPr lang="en-US" sz="2200" dirty="0"/>
          </a:p>
        </p:txBody>
      </p:sp>
      <p:sp>
        <p:nvSpPr>
          <p:cNvPr id="7" name="Text 5"/>
          <p:cNvSpPr/>
          <p:nvPr/>
        </p:nvSpPr>
        <p:spPr>
          <a:xfrm>
            <a:off x="731520" y="3246120"/>
            <a:ext cx="5486400" cy="457200"/>
          </a:xfrm>
          <a:prstGeom prst="rect">
            <a:avLst/>
          </a:prstGeom>
          <a:noFill/>
          <a:ln/>
        </p:spPr>
        <p:txBody>
          <a:bodyPr wrap="square" lIns="0" tIns="0" rIns="0" bIns="0" rtlCol="0" anchor="ctr"/>
          <a:lstStyle/>
          <a:p>
            <a:pPr marL="0" indent="0" algn="l">
              <a:buNone/>
            </a:pPr>
            <a:r>
              <a:rPr lang="en-US" sz="1300" dirty="0">
                <a:solidFill>
                  <a:srgbClr val="8BA4C4"/>
                </a:solidFill>
                <a:latin typeface="Arial" pitchFamily="34" charset="0"/>
                <a:ea typeface="Arial" pitchFamily="34" charset="-122"/>
                <a:cs typeface="Arial" pitchFamily="34" charset="-120"/>
              </a:rPr>
              <a:t>Revolutionizing premature infant care through IoT-powered monitoring</a:t>
            </a:r>
            <a:endParaRPr lang="en-US" sz="1300" dirty="0"/>
          </a:p>
        </p:txBody>
      </p:sp>
      <p:pic>
        <p:nvPicPr>
          <p:cNvPr id="8" name="Image 0" descr="preencoded.png"/>
          <p:cNvPicPr>
            <a:picLocks noChangeAspect="1"/>
          </p:cNvPicPr>
          <p:nvPr/>
        </p:nvPicPr>
        <p:blipFill>
          <a:blip r:embed="rId4"/>
          <a:stretch>
            <a:fillRect/>
          </a:stretch>
        </p:blipFill>
        <p:spPr>
          <a:xfrm>
            <a:off x="731520" y="4114800"/>
            <a:ext cx="320040" cy="320040"/>
          </a:xfrm>
          <a:prstGeom prst="rect">
            <a:avLst/>
          </a:prstGeom>
        </p:spPr>
      </p:pic>
      <p:sp>
        <p:nvSpPr>
          <p:cNvPr id="9" name="Text 6"/>
          <p:cNvSpPr/>
          <p:nvPr/>
        </p:nvSpPr>
        <p:spPr>
          <a:xfrm>
            <a:off x="1143000" y="4114800"/>
            <a:ext cx="2743200" cy="320040"/>
          </a:xfrm>
          <a:prstGeom prst="rect">
            <a:avLst/>
          </a:prstGeom>
          <a:noFill/>
          <a:ln/>
        </p:spPr>
        <p:txBody>
          <a:bodyPr wrap="square" lIns="0" tIns="0" rIns="0" bIns="0" rtlCol="0" anchor="ctr"/>
          <a:lstStyle/>
          <a:p>
            <a:pPr marL="0" indent="0" algn="l">
              <a:buNone/>
            </a:pPr>
            <a:r>
              <a:rPr lang="en-US" sz="1000" dirty="0">
                <a:solidFill>
                  <a:srgbClr val="8BA4C4"/>
                </a:solidFill>
                <a:latin typeface="Arial" pitchFamily="34" charset="0"/>
                <a:ea typeface="Arial" pitchFamily="34" charset="-122"/>
                <a:cs typeface="Arial" pitchFamily="34" charset="-120"/>
              </a:rPr>
              <a:t>www.neo-sentry.io</a:t>
            </a:r>
            <a:endParaRPr lang="en-US" sz="1000" dirty="0"/>
          </a:p>
        </p:txBody>
      </p:sp>
      <p:pic>
        <p:nvPicPr>
          <p:cNvPr id="11" name="Picture 10">
            <a:extLst>
              <a:ext uri="{FF2B5EF4-FFF2-40B4-BE49-F238E27FC236}">
                <a16:creationId xmlns:a16="http://schemas.microsoft.com/office/drawing/2014/main" id="{88B1CA66-D349-E4AC-CE41-B2C3BB54BBF8}"/>
              </a:ext>
            </a:extLst>
          </p:cNvPr>
          <p:cNvPicPr>
            <a:picLocks noChangeAspect="1"/>
          </p:cNvPicPr>
          <p:nvPr/>
        </p:nvPicPr>
        <p:blipFill>
          <a:blip r:embed="rId5"/>
          <a:stretch>
            <a:fillRect/>
          </a:stretch>
        </p:blipFill>
        <p:spPr>
          <a:xfrm>
            <a:off x="-163902" y="54773"/>
            <a:ext cx="974785" cy="5426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60000"/>
            </a:srgbClr>
          </a:solidFill>
          <a:ln/>
        </p:spPr>
        <p:txBody>
          <a:bodyPr/>
          <a:lstStyle/>
          <a:p>
            <a:endParaRPr lang="en-IN"/>
          </a:p>
        </p:txBody>
      </p:sp>
      <p:sp>
        <p:nvSpPr>
          <p:cNvPr id="3" name="Text 1"/>
          <p:cNvSpPr/>
          <p:nvPr/>
        </p:nvSpPr>
        <p:spPr>
          <a:xfrm>
            <a:off x="731520" y="365760"/>
            <a:ext cx="4572000" cy="365760"/>
          </a:xfrm>
          <a:prstGeom prst="rect">
            <a:avLst/>
          </a:prstGeom>
          <a:noFill/>
          <a:ln/>
        </p:spPr>
        <p:txBody>
          <a:bodyPr wrap="square" lIns="0" tIns="0" rIns="0" bIns="0" rtlCol="0" anchor="ctr"/>
          <a:lstStyle/>
          <a:p>
            <a:pPr marL="0" indent="0">
              <a:buNone/>
            </a:pPr>
            <a:r>
              <a:rPr lang="en-US" sz="1200" b="1" kern="0" spc="400" dirty="0">
                <a:solidFill>
                  <a:srgbClr val="FF3344"/>
                </a:solidFill>
                <a:latin typeface="Arial" pitchFamily="34" charset="0"/>
                <a:ea typeface="Arial" pitchFamily="34" charset="-122"/>
                <a:cs typeface="Arial" pitchFamily="34" charset="-120"/>
              </a:rPr>
              <a:t>THE GLOBAL CRISIS</a:t>
            </a:r>
            <a:endParaRPr lang="en-US" sz="1200" dirty="0"/>
          </a:p>
        </p:txBody>
      </p:sp>
      <p:sp>
        <p:nvSpPr>
          <p:cNvPr id="4" name="Text 2"/>
          <p:cNvSpPr/>
          <p:nvPr/>
        </p:nvSpPr>
        <p:spPr>
          <a:xfrm>
            <a:off x="731520" y="822960"/>
            <a:ext cx="7315200" cy="914400"/>
          </a:xfrm>
          <a:prstGeom prst="rect">
            <a:avLst/>
          </a:prstGeom>
          <a:noFill/>
          <a:ln/>
        </p:spPr>
        <p:txBody>
          <a:bodyPr wrap="square" lIns="0" tIns="0" rIns="0" bIns="0" rtlCol="0" anchor="ctr"/>
          <a:lstStyle/>
          <a:p>
            <a:pPr marL="0" indent="0" algn="l">
              <a:buNone/>
            </a:pPr>
            <a:r>
              <a:rPr lang="en-US" sz="5600" b="1" dirty="0">
                <a:solidFill>
                  <a:srgbClr val="EAF6FF"/>
                </a:solidFill>
                <a:latin typeface="Arial Black" pitchFamily="34" charset="0"/>
                <a:ea typeface="Arial Black" pitchFamily="34" charset="-122"/>
                <a:cs typeface="Arial Black" pitchFamily="34" charset="-120"/>
              </a:rPr>
              <a:t>13.4 Million</a:t>
            </a:r>
            <a:endParaRPr lang="en-US" sz="5600" dirty="0"/>
          </a:p>
        </p:txBody>
      </p:sp>
      <p:sp>
        <p:nvSpPr>
          <p:cNvPr id="5" name="Text 3"/>
          <p:cNvSpPr/>
          <p:nvPr/>
        </p:nvSpPr>
        <p:spPr>
          <a:xfrm>
            <a:off x="731520" y="1691640"/>
            <a:ext cx="5486400" cy="411480"/>
          </a:xfrm>
          <a:prstGeom prst="rect">
            <a:avLst/>
          </a:prstGeom>
          <a:noFill/>
          <a:ln/>
        </p:spPr>
        <p:txBody>
          <a:bodyPr wrap="square" lIns="0" tIns="0" rIns="0" bIns="0" rtlCol="0" anchor="ctr"/>
          <a:lstStyle/>
          <a:p>
            <a:pPr marL="0" indent="0" algn="l">
              <a:buNone/>
            </a:pPr>
            <a:r>
              <a:rPr lang="en-US" sz="1800" dirty="0">
                <a:solidFill>
                  <a:srgbClr val="C8DAEF"/>
                </a:solidFill>
                <a:latin typeface="Arial" pitchFamily="34" charset="0"/>
                <a:ea typeface="Arial" pitchFamily="34" charset="-122"/>
                <a:cs typeface="Arial" pitchFamily="34" charset="-120"/>
              </a:rPr>
              <a:t>premature births every year worldwide</a:t>
            </a:r>
            <a:endParaRPr lang="en-US" sz="1800" dirty="0"/>
          </a:p>
        </p:txBody>
      </p:sp>
      <p:sp>
        <p:nvSpPr>
          <p:cNvPr id="6" name="Shape 4"/>
          <p:cNvSpPr/>
          <p:nvPr/>
        </p:nvSpPr>
        <p:spPr>
          <a:xfrm>
            <a:off x="731520" y="2560320"/>
            <a:ext cx="2377440" cy="2011680"/>
          </a:xfrm>
          <a:prstGeom prst="rect">
            <a:avLst/>
          </a:prstGeom>
          <a:solidFill>
            <a:srgbClr val="0D1B2A">
              <a:alpha val="70000"/>
            </a:srgbClr>
          </a:solidFill>
          <a:ln w="12700">
            <a:solidFill>
              <a:srgbClr val="FF3344">
                <a:alpha val="40000"/>
              </a:srgbClr>
            </a:solidFill>
            <a:prstDash val="solid"/>
          </a:ln>
        </p:spPr>
        <p:txBody>
          <a:bodyPr/>
          <a:lstStyle/>
          <a:p>
            <a:endParaRPr lang="en-IN"/>
          </a:p>
        </p:txBody>
      </p:sp>
      <p:pic>
        <p:nvPicPr>
          <p:cNvPr id="7" name="Image 0" descr="preencoded.png"/>
          <p:cNvPicPr>
            <a:picLocks noChangeAspect="1"/>
          </p:cNvPicPr>
          <p:nvPr/>
        </p:nvPicPr>
        <p:blipFill>
          <a:blip r:embed="rId4"/>
          <a:stretch>
            <a:fillRect/>
          </a:stretch>
        </p:blipFill>
        <p:spPr>
          <a:xfrm>
            <a:off x="960120" y="2788920"/>
            <a:ext cx="320040" cy="320040"/>
          </a:xfrm>
          <a:prstGeom prst="rect">
            <a:avLst/>
          </a:prstGeom>
        </p:spPr>
      </p:pic>
      <p:sp>
        <p:nvSpPr>
          <p:cNvPr id="8" name="Text 5"/>
          <p:cNvSpPr/>
          <p:nvPr/>
        </p:nvSpPr>
        <p:spPr>
          <a:xfrm>
            <a:off x="960120" y="3200400"/>
            <a:ext cx="1920240" cy="320040"/>
          </a:xfrm>
          <a:prstGeom prst="rect">
            <a:avLst/>
          </a:prstGeom>
          <a:noFill/>
          <a:ln/>
        </p:spPr>
        <p:txBody>
          <a:bodyPr wrap="square" lIns="0" tIns="0" rIns="0" bIns="0" rtlCol="0" anchor="ctr"/>
          <a:lstStyle/>
          <a:p>
            <a:pPr marL="0" indent="0">
              <a:buNone/>
            </a:pPr>
            <a:r>
              <a:rPr lang="en-US" sz="1300" b="1" dirty="0">
                <a:solidFill>
                  <a:srgbClr val="EAF6FF"/>
                </a:solidFill>
                <a:latin typeface="Arial" pitchFamily="34" charset="0"/>
                <a:ea typeface="Arial" pitchFamily="34" charset="-122"/>
                <a:cs typeface="Arial" pitchFamily="34" charset="-120"/>
              </a:rPr>
              <a:t>NICU Affordability</a:t>
            </a:r>
            <a:endParaRPr lang="en-US" sz="1300" dirty="0"/>
          </a:p>
        </p:txBody>
      </p:sp>
      <p:sp>
        <p:nvSpPr>
          <p:cNvPr id="9" name="Text 6"/>
          <p:cNvSpPr/>
          <p:nvPr/>
        </p:nvSpPr>
        <p:spPr>
          <a:xfrm>
            <a:off x="960120" y="3566160"/>
            <a:ext cx="1920240" cy="822960"/>
          </a:xfrm>
          <a:prstGeom prst="rect">
            <a:avLst/>
          </a:prstGeom>
          <a:noFill/>
          <a:ln/>
        </p:spPr>
        <p:txBody>
          <a:bodyPr wrap="square" lIns="0" tIns="0" rIns="0" bIns="0" rtlCol="0" anchor="ctr"/>
          <a:lstStyle/>
          <a:p>
            <a:pPr marL="0" indent="0">
              <a:buNone/>
            </a:pPr>
            <a:r>
              <a:rPr lang="en-US" sz="1100" dirty="0">
                <a:solidFill>
                  <a:srgbClr val="8BA4C4"/>
                </a:solidFill>
                <a:latin typeface="Arial" pitchFamily="34" charset="0"/>
                <a:ea typeface="Arial" pitchFamily="34" charset="-122"/>
                <a:cs typeface="Arial" pitchFamily="34" charset="-120"/>
              </a:rPr>
              <a:t>₹1.5–7 Lakhs per incubator puts care out of reach for most families</a:t>
            </a:r>
            <a:endParaRPr lang="en-US" sz="1100" dirty="0"/>
          </a:p>
        </p:txBody>
      </p:sp>
      <p:sp>
        <p:nvSpPr>
          <p:cNvPr id="10" name="Shape 7"/>
          <p:cNvSpPr/>
          <p:nvPr/>
        </p:nvSpPr>
        <p:spPr>
          <a:xfrm>
            <a:off x="3383280" y="2560320"/>
            <a:ext cx="2377440" cy="2011680"/>
          </a:xfrm>
          <a:prstGeom prst="rect">
            <a:avLst/>
          </a:prstGeom>
          <a:solidFill>
            <a:srgbClr val="0D1B2A">
              <a:alpha val="70000"/>
            </a:srgbClr>
          </a:solidFill>
          <a:ln w="12700">
            <a:solidFill>
              <a:srgbClr val="FF3344">
                <a:alpha val="40000"/>
              </a:srgbClr>
            </a:solidFill>
            <a:prstDash val="solid"/>
          </a:ln>
        </p:spPr>
        <p:txBody>
          <a:bodyPr/>
          <a:lstStyle/>
          <a:p>
            <a:endParaRPr lang="en-IN"/>
          </a:p>
        </p:txBody>
      </p:sp>
      <p:pic>
        <p:nvPicPr>
          <p:cNvPr id="11" name="Image 1" descr="preencoded.png"/>
          <p:cNvPicPr>
            <a:picLocks noChangeAspect="1"/>
          </p:cNvPicPr>
          <p:nvPr/>
        </p:nvPicPr>
        <p:blipFill>
          <a:blip r:embed="rId5"/>
          <a:stretch>
            <a:fillRect/>
          </a:stretch>
        </p:blipFill>
        <p:spPr>
          <a:xfrm>
            <a:off x="3611880" y="2788920"/>
            <a:ext cx="320040" cy="320040"/>
          </a:xfrm>
          <a:prstGeom prst="rect">
            <a:avLst/>
          </a:prstGeom>
        </p:spPr>
      </p:pic>
      <p:sp>
        <p:nvSpPr>
          <p:cNvPr id="12" name="Text 8"/>
          <p:cNvSpPr/>
          <p:nvPr/>
        </p:nvSpPr>
        <p:spPr>
          <a:xfrm>
            <a:off x="3611880" y="3200400"/>
            <a:ext cx="1920240" cy="320040"/>
          </a:xfrm>
          <a:prstGeom prst="rect">
            <a:avLst/>
          </a:prstGeom>
          <a:noFill/>
          <a:ln/>
        </p:spPr>
        <p:txBody>
          <a:bodyPr wrap="square" lIns="0" tIns="0" rIns="0" bIns="0" rtlCol="0" anchor="ctr"/>
          <a:lstStyle/>
          <a:p>
            <a:pPr marL="0" indent="0">
              <a:buNone/>
            </a:pPr>
            <a:r>
              <a:rPr lang="en-US" sz="1300" b="1" dirty="0">
                <a:solidFill>
                  <a:srgbClr val="EAF6FF"/>
                </a:solidFill>
                <a:latin typeface="Arial" pitchFamily="34" charset="0"/>
                <a:ea typeface="Arial" pitchFamily="34" charset="-122"/>
                <a:cs typeface="Arial" pitchFamily="34" charset="-120"/>
              </a:rPr>
              <a:t>Hospital Infections</a:t>
            </a:r>
            <a:endParaRPr lang="en-US" sz="1300" dirty="0"/>
          </a:p>
        </p:txBody>
      </p:sp>
      <p:sp>
        <p:nvSpPr>
          <p:cNvPr id="13" name="Text 9"/>
          <p:cNvSpPr/>
          <p:nvPr/>
        </p:nvSpPr>
        <p:spPr>
          <a:xfrm>
            <a:off x="3611880" y="3566160"/>
            <a:ext cx="1920240" cy="822960"/>
          </a:xfrm>
          <a:prstGeom prst="rect">
            <a:avLst/>
          </a:prstGeom>
          <a:noFill/>
          <a:ln/>
        </p:spPr>
        <p:txBody>
          <a:bodyPr wrap="square" lIns="0" tIns="0" rIns="0" bIns="0" rtlCol="0" anchor="ctr"/>
          <a:lstStyle/>
          <a:p>
            <a:pPr marL="0" indent="0">
              <a:buNone/>
            </a:pPr>
            <a:r>
              <a:rPr lang="en-US" sz="1100" dirty="0">
                <a:solidFill>
                  <a:srgbClr val="8BA4C4"/>
                </a:solidFill>
                <a:latin typeface="Arial" pitchFamily="34" charset="0"/>
                <a:ea typeface="Arial" pitchFamily="34" charset="-122"/>
                <a:cs typeface="Arial" pitchFamily="34" charset="-120"/>
              </a:rPr>
              <a:t>Physical-contact monitoring increases infection risk for fragile newborns</a:t>
            </a:r>
            <a:endParaRPr lang="en-US" sz="1100" dirty="0"/>
          </a:p>
        </p:txBody>
      </p:sp>
      <p:sp>
        <p:nvSpPr>
          <p:cNvPr id="14" name="Shape 10"/>
          <p:cNvSpPr/>
          <p:nvPr/>
        </p:nvSpPr>
        <p:spPr>
          <a:xfrm>
            <a:off x="6035040" y="2560320"/>
            <a:ext cx="2377440" cy="2011680"/>
          </a:xfrm>
          <a:prstGeom prst="rect">
            <a:avLst/>
          </a:prstGeom>
          <a:solidFill>
            <a:srgbClr val="0D1B2A">
              <a:alpha val="70000"/>
            </a:srgbClr>
          </a:solidFill>
          <a:ln w="12700">
            <a:solidFill>
              <a:srgbClr val="FF3344">
                <a:alpha val="40000"/>
              </a:srgbClr>
            </a:solidFill>
            <a:prstDash val="solid"/>
          </a:ln>
        </p:spPr>
        <p:txBody>
          <a:bodyPr/>
          <a:lstStyle/>
          <a:p>
            <a:endParaRPr lang="en-IN"/>
          </a:p>
        </p:txBody>
      </p:sp>
      <p:pic>
        <p:nvPicPr>
          <p:cNvPr id="15" name="Image 2" descr="preencoded.png"/>
          <p:cNvPicPr>
            <a:picLocks noChangeAspect="1"/>
          </p:cNvPicPr>
          <p:nvPr/>
        </p:nvPicPr>
        <p:blipFill>
          <a:blip r:embed="rId6"/>
          <a:stretch>
            <a:fillRect/>
          </a:stretch>
        </p:blipFill>
        <p:spPr>
          <a:xfrm>
            <a:off x="6263640" y="2788920"/>
            <a:ext cx="320040" cy="320040"/>
          </a:xfrm>
          <a:prstGeom prst="rect">
            <a:avLst/>
          </a:prstGeom>
        </p:spPr>
      </p:pic>
      <p:sp>
        <p:nvSpPr>
          <p:cNvPr id="16" name="Text 11"/>
          <p:cNvSpPr/>
          <p:nvPr/>
        </p:nvSpPr>
        <p:spPr>
          <a:xfrm>
            <a:off x="6263640" y="3200400"/>
            <a:ext cx="1920240" cy="320040"/>
          </a:xfrm>
          <a:prstGeom prst="rect">
            <a:avLst/>
          </a:prstGeom>
          <a:noFill/>
          <a:ln/>
        </p:spPr>
        <p:txBody>
          <a:bodyPr wrap="square" lIns="0" tIns="0" rIns="0" bIns="0" rtlCol="0" anchor="ctr"/>
          <a:lstStyle/>
          <a:p>
            <a:pPr marL="0" indent="0">
              <a:buNone/>
            </a:pPr>
            <a:r>
              <a:rPr lang="en-US" sz="1300" b="1" dirty="0">
                <a:solidFill>
                  <a:srgbClr val="EAF6FF"/>
                </a:solidFill>
                <a:latin typeface="Arial" pitchFamily="34" charset="0"/>
                <a:ea typeface="Arial" pitchFamily="34" charset="-122"/>
                <a:cs typeface="Arial" pitchFamily="34" charset="-120"/>
              </a:rPr>
              <a:t>Delayed Response</a:t>
            </a:r>
            <a:endParaRPr lang="en-US" sz="1300" dirty="0"/>
          </a:p>
        </p:txBody>
      </p:sp>
      <p:sp>
        <p:nvSpPr>
          <p:cNvPr id="17" name="Text 12"/>
          <p:cNvSpPr/>
          <p:nvPr/>
        </p:nvSpPr>
        <p:spPr>
          <a:xfrm>
            <a:off x="6263640" y="3566160"/>
            <a:ext cx="1920240" cy="822960"/>
          </a:xfrm>
          <a:prstGeom prst="rect">
            <a:avLst/>
          </a:prstGeom>
          <a:noFill/>
          <a:ln/>
        </p:spPr>
        <p:txBody>
          <a:bodyPr wrap="square" lIns="0" tIns="0" rIns="0" bIns="0" rtlCol="0" anchor="ctr"/>
          <a:lstStyle/>
          <a:p>
            <a:pPr marL="0" indent="0">
              <a:buNone/>
            </a:pPr>
            <a:r>
              <a:rPr lang="en-US" sz="1100" dirty="0">
                <a:solidFill>
                  <a:srgbClr val="8BA4C4"/>
                </a:solidFill>
                <a:latin typeface="Arial" pitchFamily="34" charset="0"/>
                <a:ea typeface="Arial" pitchFamily="34" charset="-122"/>
                <a:cs typeface="Arial" pitchFamily="34" charset="-120"/>
              </a:rPr>
              <a:t>Manual monitoring creates dangerous gaps in critical care windows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7">
    <p:bg>
      <p:bgPr>
        <a:solidFill>
          <a:srgbClr val="081120"/>
        </a:solidFill>
        <a:effectLst/>
      </p:bgPr>
    </p:bg>
    <p:spTree>
      <p:nvGrpSpPr>
        <p:cNvPr id="1" name=""/>
        <p:cNvGrpSpPr/>
        <p:nvPr/>
      </p:nvGrpSpPr>
      <p:grpSpPr>
        <a:xfrm>
          <a:off x="0" y="0"/>
          <a:ext cx="0" cy="0"/>
          <a:chOff x="0" y="0"/>
          <a:chExt cx="0" cy="0"/>
        </a:xfrm>
      </p:grpSpPr>
      <p:sp>
        <p:nvSpPr>
          <p:cNvPr id="2" name="Text 0"/>
          <p:cNvSpPr/>
          <p:nvPr/>
        </p:nvSpPr>
        <p:spPr>
          <a:xfrm>
            <a:off x="731520" y="320040"/>
            <a:ext cx="4572000" cy="365760"/>
          </a:xfrm>
          <a:prstGeom prst="rect">
            <a:avLst/>
          </a:prstGeom>
          <a:noFill/>
          <a:ln/>
        </p:spPr>
        <p:txBody>
          <a:bodyPr wrap="square" lIns="0" tIns="0" rIns="0" bIns="0" rtlCol="0" anchor="ctr"/>
          <a:lstStyle/>
          <a:p>
            <a:pPr marL="0" indent="0">
              <a:buNone/>
            </a:pPr>
            <a:r>
              <a:rPr lang="en-US" sz="1200" b="1" kern="0" spc="400" dirty="0">
                <a:solidFill>
                  <a:srgbClr val="00D9FF"/>
                </a:solidFill>
                <a:latin typeface="Arial" pitchFamily="34" charset="0"/>
                <a:ea typeface="Arial" pitchFamily="34" charset="-122"/>
                <a:cs typeface="Arial" pitchFamily="34" charset="-120"/>
              </a:rPr>
              <a:t>WHY THIS IS DIFFERENT</a:t>
            </a:r>
            <a:endParaRPr lang="en-US" sz="1200" dirty="0"/>
          </a:p>
        </p:txBody>
      </p:sp>
      <p:sp>
        <p:nvSpPr>
          <p:cNvPr id="3" name="Text 1"/>
          <p:cNvSpPr/>
          <p:nvPr/>
        </p:nvSpPr>
        <p:spPr>
          <a:xfrm>
            <a:off x="731520" y="685800"/>
            <a:ext cx="7315200" cy="548640"/>
          </a:xfrm>
          <a:prstGeom prst="rect">
            <a:avLst/>
          </a:prstGeom>
          <a:noFill/>
          <a:ln/>
        </p:spPr>
        <p:txBody>
          <a:bodyPr wrap="square" lIns="0" tIns="0" rIns="0" bIns="0" rtlCol="0" anchor="ctr"/>
          <a:lstStyle/>
          <a:p>
            <a:pPr marL="0" indent="0" algn="l">
              <a:buNone/>
            </a:pPr>
            <a:r>
              <a:rPr lang="en-US" sz="3000" b="1" dirty="0">
                <a:solidFill>
                  <a:srgbClr val="EAF6FF"/>
                </a:solidFill>
                <a:latin typeface="Arial Black" pitchFamily="34" charset="0"/>
                <a:ea typeface="Arial Black" pitchFamily="34" charset="-122"/>
                <a:cs typeface="Arial Black" pitchFamily="34" charset="-120"/>
              </a:rPr>
              <a:t>Commercial NICU vs Neo-Sentry</a:t>
            </a:r>
            <a:endParaRPr lang="en-US" sz="3000" dirty="0"/>
          </a:p>
        </p:txBody>
      </p:sp>
      <p:sp>
        <p:nvSpPr>
          <p:cNvPr id="4" name="Shape 2"/>
          <p:cNvSpPr/>
          <p:nvPr/>
        </p:nvSpPr>
        <p:spPr>
          <a:xfrm>
            <a:off x="457200" y="1463040"/>
            <a:ext cx="3931920" cy="2926080"/>
          </a:xfrm>
          <a:prstGeom prst="rect">
            <a:avLst/>
          </a:prstGeom>
          <a:solidFill>
            <a:srgbClr val="1A0505">
              <a:alpha val="90000"/>
            </a:srgbClr>
          </a:solidFill>
          <a:ln w="19050">
            <a:solidFill>
              <a:srgbClr val="CC2233"/>
            </a:solidFill>
            <a:prstDash val="solid"/>
          </a:ln>
        </p:spPr>
        <p:txBody>
          <a:bodyPr/>
          <a:lstStyle/>
          <a:p>
            <a:endParaRPr lang="en-IN"/>
          </a:p>
        </p:txBody>
      </p:sp>
      <p:sp>
        <p:nvSpPr>
          <p:cNvPr id="5" name="Text 3"/>
          <p:cNvSpPr/>
          <p:nvPr/>
        </p:nvSpPr>
        <p:spPr>
          <a:xfrm>
            <a:off x="457200" y="1554480"/>
            <a:ext cx="3931920" cy="365760"/>
          </a:xfrm>
          <a:prstGeom prst="rect">
            <a:avLst/>
          </a:prstGeom>
          <a:noFill/>
          <a:ln/>
        </p:spPr>
        <p:txBody>
          <a:bodyPr wrap="square" lIns="0" tIns="0" rIns="0" bIns="0" rtlCol="0" anchor="ctr"/>
          <a:lstStyle/>
          <a:p>
            <a:pPr marL="0" indent="0" algn="ctr">
              <a:buNone/>
            </a:pPr>
            <a:r>
              <a:rPr lang="en-US" sz="1400" b="1" kern="0" spc="200" dirty="0">
                <a:solidFill>
                  <a:srgbClr val="FF3344"/>
                </a:solidFill>
                <a:latin typeface="Arial" pitchFamily="34" charset="0"/>
                <a:ea typeface="Arial" pitchFamily="34" charset="-122"/>
                <a:cs typeface="Arial" pitchFamily="34" charset="-120"/>
              </a:rPr>
              <a:t>COMMERCIAL NICU</a:t>
            </a:r>
            <a:endParaRPr lang="en-US" sz="1400" dirty="0"/>
          </a:p>
        </p:txBody>
      </p:sp>
      <p:sp>
        <p:nvSpPr>
          <p:cNvPr id="6" name="Text 4"/>
          <p:cNvSpPr/>
          <p:nvPr/>
        </p:nvSpPr>
        <p:spPr>
          <a:xfrm>
            <a:off x="685800" y="2011680"/>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Cost</a:t>
            </a:r>
            <a:endParaRPr lang="en-US" sz="1100" dirty="0"/>
          </a:p>
        </p:txBody>
      </p:sp>
      <p:sp>
        <p:nvSpPr>
          <p:cNvPr id="7" name="Text 5"/>
          <p:cNvSpPr/>
          <p:nvPr/>
        </p:nvSpPr>
        <p:spPr>
          <a:xfrm>
            <a:off x="2103120" y="2011680"/>
            <a:ext cx="2103120" cy="256032"/>
          </a:xfrm>
          <a:prstGeom prst="rect">
            <a:avLst/>
          </a:prstGeom>
          <a:noFill/>
          <a:ln/>
        </p:spPr>
        <p:txBody>
          <a:bodyPr wrap="square" lIns="0" tIns="0" rIns="0" bIns="0" rtlCol="0" anchor="ctr"/>
          <a:lstStyle/>
          <a:p>
            <a:pPr marL="0" indent="0">
              <a:buNone/>
            </a:pPr>
            <a:r>
              <a:rPr lang="en-US" sz="1200" dirty="0">
                <a:solidFill>
                  <a:srgbClr val="FF3344"/>
                </a:solidFill>
                <a:latin typeface="Arial" pitchFamily="34" charset="0"/>
                <a:ea typeface="Arial" pitchFamily="34" charset="-122"/>
                <a:cs typeface="Arial" pitchFamily="34" charset="-120"/>
              </a:rPr>
              <a:t>₹1.5–7 Lakhs</a:t>
            </a:r>
            <a:endParaRPr lang="en-US" sz="1200" dirty="0"/>
          </a:p>
        </p:txBody>
      </p:sp>
      <p:sp>
        <p:nvSpPr>
          <p:cNvPr id="8" name="Shape 6"/>
          <p:cNvSpPr/>
          <p:nvPr/>
        </p:nvSpPr>
        <p:spPr>
          <a:xfrm>
            <a:off x="685800" y="2340864"/>
            <a:ext cx="3474720" cy="0"/>
          </a:xfrm>
          <a:prstGeom prst="line">
            <a:avLst/>
          </a:prstGeom>
          <a:noFill/>
          <a:ln w="6350">
            <a:solidFill>
              <a:srgbClr val="1B3A5C">
                <a:alpha val="40000"/>
              </a:srgbClr>
            </a:solidFill>
            <a:prstDash val="solid"/>
          </a:ln>
        </p:spPr>
        <p:txBody>
          <a:bodyPr/>
          <a:lstStyle/>
          <a:p>
            <a:endParaRPr lang="en-IN"/>
          </a:p>
        </p:txBody>
      </p:sp>
      <p:sp>
        <p:nvSpPr>
          <p:cNvPr id="9" name="Text 7"/>
          <p:cNvSpPr/>
          <p:nvPr/>
        </p:nvSpPr>
        <p:spPr>
          <a:xfrm>
            <a:off x="685800" y="2487168"/>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Monitoring</a:t>
            </a:r>
            <a:endParaRPr lang="en-US" sz="1100" dirty="0"/>
          </a:p>
        </p:txBody>
      </p:sp>
      <p:sp>
        <p:nvSpPr>
          <p:cNvPr id="10" name="Text 8"/>
          <p:cNvSpPr/>
          <p:nvPr/>
        </p:nvSpPr>
        <p:spPr>
          <a:xfrm>
            <a:off x="2103120" y="2487168"/>
            <a:ext cx="2103120" cy="256032"/>
          </a:xfrm>
          <a:prstGeom prst="rect">
            <a:avLst/>
          </a:prstGeom>
          <a:noFill/>
          <a:ln/>
        </p:spPr>
        <p:txBody>
          <a:bodyPr wrap="square" lIns="0" tIns="0" rIns="0" bIns="0" rtlCol="0" anchor="ctr"/>
          <a:lstStyle/>
          <a:p>
            <a:pPr marL="0" indent="0">
              <a:buNone/>
            </a:pPr>
            <a:r>
              <a:rPr lang="en-US" sz="1200" dirty="0">
                <a:solidFill>
                  <a:srgbClr val="FF3344"/>
                </a:solidFill>
                <a:latin typeface="Arial" pitchFamily="34" charset="0"/>
                <a:ea typeface="Arial" pitchFamily="34" charset="-122"/>
                <a:cs typeface="Arial" pitchFamily="34" charset="-120"/>
              </a:rPr>
              <a:t>Physical contact sensors</a:t>
            </a:r>
            <a:endParaRPr lang="en-US" sz="1200" dirty="0"/>
          </a:p>
        </p:txBody>
      </p:sp>
      <p:sp>
        <p:nvSpPr>
          <p:cNvPr id="11" name="Shape 9"/>
          <p:cNvSpPr/>
          <p:nvPr/>
        </p:nvSpPr>
        <p:spPr>
          <a:xfrm>
            <a:off x="685800" y="2816352"/>
            <a:ext cx="3474720" cy="0"/>
          </a:xfrm>
          <a:prstGeom prst="line">
            <a:avLst/>
          </a:prstGeom>
          <a:noFill/>
          <a:ln w="6350">
            <a:solidFill>
              <a:srgbClr val="1B3A5C">
                <a:alpha val="40000"/>
              </a:srgbClr>
            </a:solidFill>
            <a:prstDash val="solid"/>
          </a:ln>
        </p:spPr>
        <p:txBody>
          <a:bodyPr/>
          <a:lstStyle/>
          <a:p>
            <a:endParaRPr lang="en-IN"/>
          </a:p>
        </p:txBody>
      </p:sp>
      <p:sp>
        <p:nvSpPr>
          <p:cNvPr id="12" name="Text 10"/>
          <p:cNvSpPr/>
          <p:nvPr/>
        </p:nvSpPr>
        <p:spPr>
          <a:xfrm>
            <a:off x="685800" y="2962656"/>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Infection Risk</a:t>
            </a:r>
            <a:endParaRPr lang="en-US" sz="1100" dirty="0"/>
          </a:p>
        </p:txBody>
      </p:sp>
      <p:sp>
        <p:nvSpPr>
          <p:cNvPr id="13" name="Text 11"/>
          <p:cNvSpPr/>
          <p:nvPr/>
        </p:nvSpPr>
        <p:spPr>
          <a:xfrm>
            <a:off x="2103120" y="2962656"/>
            <a:ext cx="2103120" cy="256032"/>
          </a:xfrm>
          <a:prstGeom prst="rect">
            <a:avLst/>
          </a:prstGeom>
          <a:noFill/>
          <a:ln/>
        </p:spPr>
        <p:txBody>
          <a:bodyPr wrap="square" lIns="0" tIns="0" rIns="0" bIns="0" rtlCol="0" anchor="ctr"/>
          <a:lstStyle/>
          <a:p>
            <a:pPr marL="0" indent="0">
              <a:buNone/>
            </a:pPr>
            <a:r>
              <a:rPr lang="en-US" sz="1200" dirty="0">
                <a:solidFill>
                  <a:srgbClr val="FF3344"/>
                </a:solidFill>
                <a:latin typeface="Arial" pitchFamily="34" charset="0"/>
                <a:ea typeface="Arial" pitchFamily="34" charset="-122"/>
                <a:cs typeface="Arial" pitchFamily="34" charset="-120"/>
              </a:rPr>
              <a:t>High (wired probes)</a:t>
            </a:r>
            <a:endParaRPr lang="en-US" sz="1200" dirty="0"/>
          </a:p>
        </p:txBody>
      </p:sp>
      <p:sp>
        <p:nvSpPr>
          <p:cNvPr id="14" name="Shape 12"/>
          <p:cNvSpPr/>
          <p:nvPr/>
        </p:nvSpPr>
        <p:spPr>
          <a:xfrm>
            <a:off x="685800" y="3291840"/>
            <a:ext cx="3474720" cy="0"/>
          </a:xfrm>
          <a:prstGeom prst="line">
            <a:avLst/>
          </a:prstGeom>
          <a:noFill/>
          <a:ln w="6350">
            <a:solidFill>
              <a:srgbClr val="1B3A5C">
                <a:alpha val="40000"/>
              </a:srgbClr>
            </a:solidFill>
            <a:prstDash val="solid"/>
          </a:ln>
        </p:spPr>
        <p:txBody>
          <a:bodyPr/>
          <a:lstStyle/>
          <a:p>
            <a:endParaRPr lang="en-IN"/>
          </a:p>
        </p:txBody>
      </p:sp>
      <p:sp>
        <p:nvSpPr>
          <p:cNvPr id="15" name="Text 13"/>
          <p:cNvSpPr/>
          <p:nvPr/>
        </p:nvSpPr>
        <p:spPr>
          <a:xfrm>
            <a:off x="685800" y="3438144"/>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Remote Alerts</a:t>
            </a:r>
            <a:endParaRPr lang="en-US" sz="1100" dirty="0"/>
          </a:p>
        </p:txBody>
      </p:sp>
      <p:sp>
        <p:nvSpPr>
          <p:cNvPr id="16" name="Text 14"/>
          <p:cNvSpPr/>
          <p:nvPr/>
        </p:nvSpPr>
        <p:spPr>
          <a:xfrm>
            <a:off x="2103120" y="3438144"/>
            <a:ext cx="2103120" cy="256032"/>
          </a:xfrm>
          <a:prstGeom prst="rect">
            <a:avLst/>
          </a:prstGeom>
          <a:noFill/>
          <a:ln/>
        </p:spPr>
        <p:txBody>
          <a:bodyPr wrap="square" lIns="0" tIns="0" rIns="0" bIns="0" rtlCol="0" anchor="ctr"/>
          <a:lstStyle/>
          <a:p>
            <a:pPr marL="0" indent="0">
              <a:buNone/>
            </a:pPr>
            <a:r>
              <a:rPr lang="en-US" sz="1200" dirty="0">
                <a:solidFill>
                  <a:srgbClr val="FF3344"/>
                </a:solidFill>
                <a:latin typeface="Arial" pitchFamily="34" charset="0"/>
                <a:ea typeface="Arial" pitchFamily="34" charset="-122"/>
                <a:cs typeface="Arial" pitchFamily="34" charset="-120"/>
              </a:rPr>
              <a:t>None / proprietary</a:t>
            </a:r>
            <a:endParaRPr lang="en-US" sz="1200" dirty="0"/>
          </a:p>
        </p:txBody>
      </p:sp>
      <p:sp>
        <p:nvSpPr>
          <p:cNvPr id="17" name="Shape 15"/>
          <p:cNvSpPr/>
          <p:nvPr/>
        </p:nvSpPr>
        <p:spPr>
          <a:xfrm>
            <a:off x="685800" y="3767328"/>
            <a:ext cx="3474720" cy="0"/>
          </a:xfrm>
          <a:prstGeom prst="line">
            <a:avLst/>
          </a:prstGeom>
          <a:noFill/>
          <a:ln w="6350">
            <a:solidFill>
              <a:srgbClr val="1B3A5C">
                <a:alpha val="40000"/>
              </a:srgbClr>
            </a:solidFill>
            <a:prstDash val="solid"/>
          </a:ln>
        </p:spPr>
        <p:txBody>
          <a:bodyPr/>
          <a:lstStyle/>
          <a:p>
            <a:endParaRPr lang="en-IN"/>
          </a:p>
        </p:txBody>
      </p:sp>
      <p:sp>
        <p:nvSpPr>
          <p:cNvPr id="18" name="Text 16"/>
          <p:cNvSpPr/>
          <p:nvPr/>
        </p:nvSpPr>
        <p:spPr>
          <a:xfrm>
            <a:off x="685800" y="3913632"/>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Accessibility</a:t>
            </a:r>
            <a:endParaRPr lang="en-US" sz="1100" dirty="0"/>
          </a:p>
        </p:txBody>
      </p:sp>
      <p:sp>
        <p:nvSpPr>
          <p:cNvPr id="19" name="Text 17"/>
          <p:cNvSpPr/>
          <p:nvPr/>
        </p:nvSpPr>
        <p:spPr>
          <a:xfrm>
            <a:off x="2103120" y="3913632"/>
            <a:ext cx="2103120" cy="256032"/>
          </a:xfrm>
          <a:prstGeom prst="rect">
            <a:avLst/>
          </a:prstGeom>
          <a:noFill/>
          <a:ln/>
        </p:spPr>
        <p:txBody>
          <a:bodyPr wrap="square" lIns="0" tIns="0" rIns="0" bIns="0" rtlCol="0" anchor="ctr"/>
          <a:lstStyle/>
          <a:p>
            <a:pPr marL="0" indent="0">
              <a:buNone/>
            </a:pPr>
            <a:r>
              <a:rPr lang="en-US" sz="1200" dirty="0">
                <a:solidFill>
                  <a:srgbClr val="FF3344"/>
                </a:solidFill>
                <a:latin typeface="Arial" pitchFamily="34" charset="0"/>
                <a:ea typeface="Arial" pitchFamily="34" charset="-122"/>
                <a:cs typeface="Arial" pitchFamily="34" charset="-120"/>
              </a:rPr>
              <a:t>Urban hospitals only</a:t>
            </a:r>
            <a:endParaRPr lang="en-US" sz="1200" dirty="0"/>
          </a:p>
        </p:txBody>
      </p:sp>
      <p:sp>
        <p:nvSpPr>
          <p:cNvPr id="20" name="Shape 18"/>
          <p:cNvSpPr/>
          <p:nvPr/>
        </p:nvSpPr>
        <p:spPr>
          <a:xfrm>
            <a:off x="4754880" y="1463040"/>
            <a:ext cx="3931920" cy="2926080"/>
          </a:xfrm>
          <a:prstGeom prst="rect">
            <a:avLst/>
          </a:prstGeom>
          <a:solidFill>
            <a:srgbClr val="001520">
              <a:alpha val="90000"/>
            </a:srgbClr>
          </a:solidFill>
          <a:ln w="19050">
            <a:solidFill>
              <a:srgbClr val="00D9FF"/>
            </a:solidFill>
            <a:prstDash val="solid"/>
          </a:ln>
        </p:spPr>
        <p:txBody>
          <a:bodyPr/>
          <a:lstStyle/>
          <a:p>
            <a:endParaRPr lang="en-IN"/>
          </a:p>
        </p:txBody>
      </p:sp>
      <p:sp>
        <p:nvSpPr>
          <p:cNvPr id="21" name="Text 19"/>
          <p:cNvSpPr/>
          <p:nvPr/>
        </p:nvSpPr>
        <p:spPr>
          <a:xfrm>
            <a:off x="4754880" y="1554480"/>
            <a:ext cx="3931920" cy="365760"/>
          </a:xfrm>
          <a:prstGeom prst="rect">
            <a:avLst/>
          </a:prstGeom>
          <a:noFill/>
          <a:ln/>
        </p:spPr>
        <p:txBody>
          <a:bodyPr wrap="square" lIns="0" tIns="0" rIns="0" bIns="0" rtlCol="0" anchor="ctr"/>
          <a:lstStyle/>
          <a:p>
            <a:pPr marL="0" indent="0" algn="ctr">
              <a:buNone/>
            </a:pPr>
            <a:r>
              <a:rPr lang="en-US" sz="1400" b="1" kern="0" spc="200" dirty="0">
                <a:solidFill>
                  <a:srgbClr val="00D9FF"/>
                </a:solidFill>
                <a:latin typeface="Arial" pitchFamily="34" charset="0"/>
                <a:ea typeface="Arial" pitchFamily="34" charset="-122"/>
                <a:cs typeface="Arial" pitchFamily="34" charset="-120"/>
              </a:rPr>
              <a:t>NEO-SENTRY 1.0</a:t>
            </a:r>
            <a:endParaRPr lang="en-US" sz="1400" dirty="0"/>
          </a:p>
        </p:txBody>
      </p:sp>
      <p:sp>
        <p:nvSpPr>
          <p:cNvPr id="22" name="Text 20"/>
          <p:cNvSpPr/>
          <p:nvPr/>
        </p:nvSpPr>
        <p:spPr>
          <a:xfrm>
            <a:off x="4983480" y="2011680"/>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Cost</a:t>
            </a:r>
            <a:endParaRPr lang="en-US" sz="1100" dirty="0"/>
          </a:p>
        </p:txBody>
      </p:sp>
      <p:sp>
        <p:nvSpPr>
          <p:cNvPr id="23" name="Text 21"/>
          <p:cNvSpPr/>
          <p:nvPr/>
        </p:nvSpPr>
        <p:spPr>
          <a:xfrm>
            <a:off x="6400800" y="2011680"/>
            <a:ext cx="2103120" cy="256032"/>
          </a:xfrm>
          <a:prstGeom prst="rect">
            <a:avLst/>
          </a:prstGeom>
          <a:noFill/>
          <a:ln/>
        </p:spPr>
        <p:txBody>
          <a:bodyPr wrap="square" lIns="0" tIns="0" rIns="0" bIns="0" rtlCol="0" anchor="ctr"/>
          <a:lstStyle/>
          <a:p>
            <a:pPr marL="0" indent="0">
              <a:buNone/>
            </a:pPr>
            <a:r>
              <a:rPr lang="en-US" sz="1200" b="1" dirty="0">
                <a:solidFill>
                  <a:srgbClr val="00D9FF"/>
                </a:solidFill>
                <a:latin typeface="Arial" pitchFamily="34" charset="0"/>
                <a:ea typeface="Arial" pitchFamily="34" charset="-122"/>
                <a:cs typeface="Arial" pitchFamily="34" charset="-120"/>
              </a:rPr>
              <a:t>₹2,630</a:t>
            </a:r>
            <a:endParaRPr lang="en-US" sz="1200" dirty="0"/>
          </a:p>
        </p:txBody>
      </p:sp>
      <p:sp>
        <p:nvSpPr>
          <p:cNvPr id="24" name="Shape 22"/>
          <p:cNvSpPr/>
          <p:nvPr/>
        </p:nvSpPr>
        <p:spPr>
          <a:xfrm>
            <a:off x="4983480" y="2340864"/>
            <a:ext cx="3474720" cy="0"/>
          </a:xfrm>
          <a:prstGeom prst="line">
            <a:avLst/>
          </a:prstGeom>
          <a:noFill/>
          <a:ln w="6350">
            <a:solidFill>
              <a:srgbClr val="1B3A5C">
                <a:alpha val="40000"/>
              </a:srgbClr>
            </a:solidFill>
            <a:prstDash val="solid"/>
          </a:ln>
        </p:spPr>
        <p:txBody>
          <a:bodyPr/>
          <a:lstStyle/>
          <a:p>
            <a:endParaRPr lang="en-IN"/>
          </a:p>
        </p:txBody>
      </p:sp>
      <p:sp>
        <p:nvSpPr>
          <p:cNvPr id="25" name="Text 23"/>
          <p:cNvSpPr/>
          <p:nvPr/>
        </p:nvSpPr>
        <p:spPr>
          <a:xfrm>
            <a:off x="4983480" y="2487168"/>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Monitoring</a:t>
            </a:r>
            <a:endParaRPr lang="en-US" sz="1100" dirty="0"/>
          </a:p>
        </p:txBody>
      </p:sp>
      <p:sp>
        <p:nvSpPr>
          <p:cNvPr id="26" name="Text 24"/>
          <p:cNvSpPr/>
          <p:nvPr/>
        </p:nvSpPr>
        <p:spPr>
          <a:xfrm>
            <a:off x="6400800" y="2487168"/>
            <a:ext cx="2103120" cy="256032"/>
          </a:xfrm>
          <a:prstGeom prst="rect">
            <a:avLst/>
          </a:prstGeom>
          <a:noFill/>
          <a:ln/>
        </p:spPr>
        <p:txBody>
          <a:bodyPr wrap="square" lIns="0" tIns="0" rIns="0" bIns="0" rtlCol="0" anchor="ctr"/>
          <a:lstStyle/>
          <a:p>
            <a:pPr marL="0" indent="0">
              <a:buNone/>
            </a:pPr>
            <a:r>
              <a:rPr lang="en-US" sz="1200" b="1" dirty="0">
                <a:solidFill>
                  <a:srgbClr val="00D9FF"/>
                </a:solidFill>
                <a:latin typeface="Arial" pitchFamily="34" charset="0"/>
                <a:ea typeface="Arial" pitchFamily="34" charset="-122"/>
                <a:cs typeface="Arial" pitchFamily="34" charset="-120"/>
              </a:rPr>
              <a:t>100% touchless optical</a:t>
            </a:r>
            <a:endParaRPr lang="en-US" sz="1200" dirty="0"/>
          </a:p>
        </p:txBody>
      </p:sp>
      <p:sp>
        <p:nvSpPr>
          <p:cNvPr id="27" name="Shape 25"/>
          <p:cNvSpPr/>
          <p:nvPr/>
        </p:nvSpPr>
        <p:spPr>
          <a:xfrm>
            <a:off x="4983480" y="2816352"/>
            <a:ext cx="3474720" cy="0"/>
          </a:xfrm>
          <a:prstGeom prst="line">
            <a:avLst/>
          </a:prstGeom>
          <a:noFill/>
          <a:ln w="6350">
            <a:solidFill>
              <a:srgbClr val="1B3A5C">
                <a:alpha val="40000"/>
              </a:srgbClr>
            </a:solidFill>
            <a:prstDash val="solid"/>
          </a:ln>
        </p:spPr>
        <p:txBody>
          <a:bodyPr/>
          <a:lstStyle/>
          <a:p>
            <a:endParaRPr lang="en-IN"/>
          </a:p>
        </p:txBody>
      </p:sp>
      <p:sp>
        <p:nvSpPr>
          <p:cNvPr id="28" name="Text 26"/>
          <p:cNvSpPr/>
          <p:nvPr/>
        </p:nvSpPr>
        <p:spPr>
          <a:xfrm>
            <a:off x="4983480" y="2962656"/>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Infection Risk</a:t>
            </a:r>
            <a:endParaRPr lang="en-US" sz="1100" dirty="0"/>
          </a:p>
        </p:txBody>
      </p:sp>
      <p:sp>
        <p:nvSpPr>
          <p:cNvPr id="29" name="Text 27"/>
          <p:cNvSpPr/>
          <p:nvPr/>
        </p:nvSpPr>
        <p:spPr>
          <a:xfrm>
            <a:off x="6400800" y="2962656"/>
            <a:ext cx="2103120" cy="256032"/>
          </a:xfrm>
          <a:prstGeom prst="rect">
            <a:avLst/>
          </a:prstGeom>
          <a:noFill/>
          <a:ln/>
        </p:spPr>
        <p:txBody>
          <a:bodyPr wrap="square" lIns="0" tIns="0" rIns="0" bIns="0" rtlCol="0" anchor="ctr"/>
          <a:lstStyle/>
          <a:p>
            <a:pPr marL="0" indent="0">
              <a:buNone/>
            </a:pPr>
            <a:r>
              <a:rPr lang="en-US" sz="1200" b="1" dirty="0">
                <a:solidFill>
                  <a:srgbClr val="00D9FF"/>
                </a:solidFill>
                <a:latin typeface="Arial" pitchFamily="34" charset="0"/>
                <a:ea typeface="Arial" pitchFamily="34" charset="-122"/>
                <a:cs typeface="Arial" pitchFamily="34" charset="-120"/>
              </a:rPr>
              <a:t>Near-zero (no contact)</a:t>
            </a:r>
            <a:endParaRPr lang="en-US" sz="1200" dirty="0"/>
          </a:p>
        </p:txBody>
      </p:sp>
      <p:sp>
        <p:nvSpPr>
          <p:cNvPr id="30" name="Shape 28"/>
          <p:cNvSpPr/>
          <p:nvPr/>
        </p:nvSpPr>
        <p:spPr>
          <a:xfrm>
            <a:off x="4983480" y="3291840"/>
            <a:ext cx="3474720" cy="0"/>
          </a:xfrm>
          <a:prstGeom prst="line">
            <a:avLst/>
          </a:prstGeom>
          <a:noFill/>
          <a:ln w="6350">
            <a:solidFill>
              <a:srgbClr val="1B3A5C">
                <a:alpha val="40000"/>
              </a:srgbClr>
            </a:solidFill>
            <a:prstDash val="solid"/>
          </a:ln>
        </p:spPr>
        <p:txBody>
          <a:bodyPr/>
          <a:lstStyle/>
          <a:p>
            <a:endParaRPr lang="en-IN"/>
          </a:p>
        </p:txBody>
      </p:sp>
      <p:sp>
        <p:nvSpPr>
          <p:cNvPr id="31" name="Text 29"/>
          <p:cNvSpPr/>
          <p:nvPr/>
        </p:nvSpPr>
        <p:spPr>
          <a:xfrm>
            <a:off x="4983480" y="3438144"/>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Remote Alerts</a:t>
            </a:r>
            <a:endParaRPr lang="en-US" sz="1100" dirty="0"/>
          </a:p>
        </p:txBody>
      </p:sp>
      <p:sp>
        <p:nvSpPr>
          <p:cNvPr id="32" name="Text 30"/>
          <p:cNvSpPr/>
          <p:nvPr/>
        </p:nvSpPr>
        <p:spPr>
          <a:xfrm>
            <a:off x="6400800" y="3438144"/>
            <a:ext cx="2103120" cy="256032"/>
          </a:xfrm>
          <a:prstGeom prst="rect">
            <a:avLst/>
          </a:prstGeom>
          <a:noFill/>
          <a:ln/>
        </p:spPr>
        <p:txBody>
          <a:bodyPr wrap="square" lIns="0" tIns="0" rIns="0" bIns="0" rtlCol="0" anchor="ctr"/>
          <a:lstStyle/>
          <a:p>
            <a:pPr marL="0" indent="0">
              <a:buNone/>
            </a:pPr>
            <a:r>
              <a:rPr lang="en-US" sz="1200" b="1" dirty="0">
                <a:solidFill>
                  <a:srgbClr val="00D9FF"/>
                </a:solidFill>
                <a:latin typeface="Arial" pitchFamily="34" charset="0"/>
                <a:ea typeface="Arial" pitchFamily="34" charset="-122"/>
                <a:cs typeface="Arial" pitchFamily="34" charset="-120"/>
              </a:rPr>
              <a:t>ntfy.sh (any device)</a:t>
            </a:r>
            <a:endParaRPr lang="en-US" sz="1200" dirty="0"/>
          </a:p>
        </p:txBody>
      </p:sp>
      <p:sp>
        <p:nvSpPr>
          <p:cNvPr id="33" name="Shape 31"/>
          <p:cNvSpPr/>
          <p:nvPr/>
        </p:nvSpPr>
        <p:spPr>
          <a:xfrm>
            <a:off x="4983480" y="3767328"/>
            <a:ext cx="3474720" cy="0"/>
          </a:xfrm>
          <a:prstGeom prst="line">
            <a:avLst/>
          </a:prstGeom>
          <a:noFill/>
          <a:ln w="6350">
            <a:solidFill>
              <a:srgbClr val="1B3A5C">
                <a:alpha val="40000"/>
              </a:srgbClr>
            </a:solidFill>
            <a:prstDash val="solid"/>
          </a:ln>
        </p:spPr>
        <p:txBody>
          <a:bodyPr/>
          <a:lstStyle/>
          <a:p>
            <a:endParaRPr lang="en-IN"/>
          </a:p>
        </p:txBody>
      </p:sp>
      <p:sp>
        <p:nvSpPr>
          <p:cNvPr id="34" name="Text 32"/>
          <p:cNvSpPr/>
          <p:nvPr/>
        </p:nvSpPr>
        <p:spPr>
          <a:xfrm>
            <a:off x="4983480" y="3913632"/>
            <a:ext cx="1371600" cy="256032"/>
          </a:xfrm>
          <a:prstGeom prst="rect">
            <a:avLst/>
          </a:prstGeom>
          <a:noFill/>
          <a:ln/>
        </p:spPr>
        <p:txBody>
          <a:bodyPr wrap="square" lIns="0" tIns="0" rIns="0" bIns="0" rtlCol="0" anchor="ctr"/>
          <a:lstStyle/>
          <a:p>
            <a:pPr marL="0" indent="0">
              <a:buNone/>
            </a:pPr>
            <a:r>
              <a:rPr lang="en-US" sz="1100" b="1" dirty="0">
                <a:solidFill>
                  <a:srgbClr val="8BA4C4"/>
                </a:solidFill>
                <a:latin typeface="Arial" pitchFamily="34" charset="0"/>
                <a:ea typeface="Arial" pitchFamily="34" charset="-122"/>
                <a:cs typeface="Arial" pitchFamily="34" charset="-120"/>
              </a:rPr>
              <a:t>Accessibility</a:t>
            </a:r>
            <a:endParaRPr lang="en-US" sz="1100" dirty="0"/>
          </a:p>
        </p:txBody>
      </p:sp>
      <p:sp>
        <p:nvSpPr>
          <p:cNvPr id="35" name="Text 33"/>
          <p:cNvSpPr/>
          <p:nvPr/>
        </p:nvSpPr>
        <p:spPr>
          <a:xfrm>
            <a:off x="6400800" y="3913632"/>
            <a:ext cx="2103120" cy="256032"/>
          </a:xfrm>
          <a:prstGeom prst="rect">
            <a:avLst/>
          </a:prstGeom>
          <a:noFill/>
          <a:ln/>
        </p:spPr>
        <p:txBody>
          <a:bodyPr wrap="square" lIns="0" tIns="0" rIns="0" bIns="0" rtlCol="0" anchor="ctr"/>
          <a:lstStyle/>
          <a:p>
            <a:pPr marL="0" indent="0">
              <a:buNone/>
            </a:pPr>
            <a:r>
              <a:rPr lang="en-US" sz="1200" b="1" dirty="0">
                <a:solidFill>
                  <a:srgbClr val="00D9FF"/>
                </a:solidFill>
                <a:latin typeface="Arial" pitchFamily="34" charset="0"/>
                <a:ea typeface="Arial" pitchFamily="34" charset="-122"/>
                <a:cs typeface="Arial" pitchFamily="34" charset="-120"/>
              </a:rPr>
              <a:t>Rural + urban, anywhere</a:t>
            </a:r>
            <a:endParaRPr lang="en-US" sz="1200" dirty="0"/>
          </a:p>
        </p:txBody>
      </p:sp>
      <p:sp>
        <p:nvSpPr>
          <p:cNvPr id="36" name="Shape 34"/>
          <p:cNvSpPr/>
          <p:nvPr/>
        </p:nvSpPr>
        <p:spPr>
          <a:xfrm>
            <a:off x="1371600" y="4572000"/>
            <a:ext cx="6400800" cy="365760"/>
          </a:xfrm>
          <a:prstGeom prst="rect">
            <a:avLst/>
          </a:prstGeom>
          <a:solidFill>
            <a:srgbClr val="00D9FF">
              <a:alpha val="15000"/>
            </a:srgbClr>
          </a:solidFill>
          <a:ln w="12700">
            <a:solidFill>
              <a:srgbClr val="00D9FF"/>
            </a:solidFill>
            <a:prstDash val="solid"/>
          </a:ln>
        </p:spPr>
        <p:txBody>
          <a:bodyPr/>
          <a:lstStyle/>
          <a:p>
            <a:endParaRPr lang="en-IN"/>
          </a:p>
        </p:txBody>
      </p:sp>
      <p:sp>
        <p:nvSpPr>
          <p:cNvPr id="37" name="Text 35"/>
          <p:cNvSpPr/>
          <p:nvPr/>
        </p:nvSpPr>
        <p:spPr>
          <a:xfrm>
            <a:off x="457200" y="4572000"/>
            <a:ext cx="8229600" cy="365760"/>
          </a:xfrm>
          <a:prstGeom prst="rect">
            <a:avLst/>
          </a:prstGeom>
          <a:noFill/>
          <a:ln/>
        </p:spPr>
        <p:txBody>
          <a:bodyPr wrap="square" lIns="0" tIns="0" rIns="0" bIns="0" rtlCol="0" anchor="ctr"/>
          <a:lstStyle/>
          <a:p>
            <a:pPr marL="0" indent="0" algn="ctr">
              <a:buNone/>
            </a:pPr>
            <a:r>
              <a:rPr lang="en-US" sz="1100" b="1" dirty="0">
                <a:solidFill>
                  <a:srgbClr val="00D9FF"/>
                </a:solidFill>
                <a:latin typeface="Arial" pitchFamily="34" charset="0"/>
                <a:ea typeface="Arial" pitchFamily="34" charset="-122"/>
                <a:cs typeface="Arial" pitchFamily="34" charset="-120"/>
              </a:rPr>
              <a:t>99.95% Cost Reduction  •  Zero Infection Risk  •  Universal Access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Overlay"/>
          <p:cNvSpPr/>
          <p:nvPr/>
        </p:nvSpPr>
        <p:spPr>
          <a:xfrm>
            <a:off x="0" y="0"/>
            <a:ext cx="9144000" cy="5143500"/>
          </a:xfrm>
          <a:prstGeom prst="rect">
            <a:avLst/>
          </a:prstGeom>
          <a:solidFill>
            <a:srgbClr val="000000">
              <a:alpha val="50000"/>
            </a:srgbClr>
          </a:solidFill>
          <a:ln/>
        </p:spPr>
        <p:txBody>
          <a:bodyPr/>
          <a:lstStyle/>
          <a:p>
            <a:endParaRPr lang="en-IN"/>
          </a:p>
        </p:txBody>
      </p:sp>
      <p:sp>
        <p:nvSpPr>
          <p:cNvPr id="3" name="SectionLabel"/>
          <p:cNvSpPr/>
          <p:nvPr/>
        </p:nvSpPr>
        <p:spPr>
          <a:xfrm>
            <a:off x="731520" y="274320"/>
            <a:ext cx="4572000" cy="365760"/>
          </a:xfrm>
          <a:prstGeom prst="rect">
            <a:avLst/>
          </a:prstGeom>
          <a:noFill/>
          <a:ln/>
        </p:spPr>
        <p:txBody>
          <a:bodyPr wrap="square" lIns="0" tIns="0" rIns="0" bIns="0" rtlCol="0" anchor="ctr"/>
          <a:lstStyle/>
          <a:p>
            <a:pPr marL="0" indent="0">
              <a:buNone/>
            </a:pPr>
            <a:r>
              <a:rPr lang="en-US" sz="1200" b="1" kern="0" spc="400">
                <a:solidFill>
                  <a:srgbClr val="00D9FF"/>
                </a:solidFill>
                <a:latin typeface="Arial" pitchFamily="34" charset="0"/>
                <a:ea typeface="Arial" pitchFamily="34" charset="-122"/>
                <a:cs typeface="Arial" pitchFamily="34" charset="-120"/>
              </a:rPr>
              <a:t>PROJECT FEATURES</a:t>
            </a:r>
          </a:p>
        </p:txBody>
      </p:sp>
      <p:sp>
        <p:nvSpPr>
          <p:cNvPr id="4" name="SlideTitle"/>
          <p:cNvSpPr/>
          <p:nvPr/>
        </p:nvSpPr>
        <p:spPr>
          <a:xfrm>
            <a:off x="731520" y="640080"/>
            <a:ext cx="7680000" cy="548640"/>
          </a:xfrm>
          <a:prstGeom prst="rect">
            <a:avLst/>
          </a:prstGeom>
          <a:noFill/>
          <a:ln/>
        </p:spPr>
        <p:txBody>
          <a:bodyPr wrap="square" lIns="0" tIns="0" rIns="0" bIns="0" rtlCol="0" anchor="ctr"/>
          <a:lstStyle/>
          <a:p>
            <a:pPr marL="0" indent="0" algn="l">
              <a:buNone/>
            </a:pPr>
            <a:r>
              <a:rPr lang="en-US" sz="2400" b="1" dirty="0">
                <a:solidFill>
                  <a:srgbClr val="EAF6FF"/>
                </a:solidFill>
                <a:latin typeface="Arial Black" pitchFamily="34" charset="0"/>
                <a:ea typeface="Arial Black" pitchFamily="34" charset="-122"/>
                <a:cs typeface="Arial Black" pitchFamily="34" charset="-120"/>
              </a:rPr>
              <a:t>Connectivity &amp; Monitoring </a:t>
            </a:r>
          </a:p>
        </p:txBody>
      </p:sp>
      <p:sp>
        <p:nvSpPr>
          <p:cNvPr id="5" name="CardBgL"/>
          <p:cNvSpPr/>
          <p:nvPr/>
        </p:nvSpPr>
        <p:spPr>
          <a:xfrm>
            <a:off x="4572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6" name="NumL"/>
          <p:cNvSpPr/>
          <p:nvPr/>
        </p:nvSpPr>
        <p:spPr>
          <a:xfrm>
            <a:off x="6172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01</a:t>
            </a:r>
          </a:p>
        </p:txBody>
      </p:sp>
      <p:sp>
        <p:nvSpPr>
          <p:cNvPr id="7" name="TitleL"/>
          <p:cNvSpPr/>
          <p:nvPr/>
        </p:nvSpPr>
        <p:spPr>
          <a:xfrm>
            <a:off x="1100000" y="1420000"/>
            <a:ext cx="3100000" cy="42000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rPr>
              <a:t>Live Wi-Fi Connectivity</a:t>
            </a:r>
          </a:p>
        </p:txBody>
      </p:sp>
      <p:sp>
        <p:nvSpPr>
          <p:cNvPr id="8" name="DescL"/>
          <p:cNvSpPr/>
          <p:nvPr/>
        </p:nvSpPr>
        <p:spPr>
          <a:xfrm>
            <a:off x="6172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Establishes a continuous, stable wireless connection to facility networks with optimized low-RF transmission profiles. The ESP32 connects to hospital Wi-Fi infrastructure using WPA2-Enterprise security, maintaining persistent connectivity for real-time data streaming while keeping RF emissions well below medical-grade safety thresholds.</a:t>
            </a:r>
          </a:p>
        </p:txBody>
      </p:sp>
      <p:sp>
        <p:nvSpPr>
          <p:cNvPr id="9" name="CardBgR"/>
          <p:cNvSpPr/>
          <p:nvPr/>
        </p:nvSpPr>
        <p:spPr>
          <a:xfrm>
            <a:off x="47268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10" name="NumR"/>
          <p:cNvSpPr/>
          <p:nvPr/>
        </p:nvSpPr>
        <p:spPr>
          <a:xfrm>
            <a:off x="48868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02</a:t>
            </a:r>
          </a:p>
        </p:txBody>
      </p:sp>
      <p:sp>
        <p:nvSpPr>
          <p:cNvPr id="11" name="TitleR"/>
          <p:cNvSpPr/>
          <p:nvPr/>
        </p:nvSpPr>
        <p:spPr>
          <a:xfrm>
            <a:off x="537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Live OLED Telemetry &amp; Monitoring</a:t>
            </a:r>
          </a:p>
        </p:txBody>
      </p:sp>
      <p:sp>
        <p:nvSpPr>
          <p:cNvPr id="12" name="DescR"/>
          <p:cNvSpPr/>
          <p:nvPr/>
        </p:nvSpPr>
        <p:spPr>
          <a:xfrm>
            <a:off x="48868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Displays real-time temperature readings, continuous patient stillness tracking, and immediate system alerts on a local SSD1306 OLED screen. Nurses can glance at the bedside display for instant status without needing any connected device, providing a reliable local feedback loop alongside remote monitoring channels.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erlay"/>
          <p:cNvSpPr/>
          <p:nvPr/>
        </p:nvSpPr>
        <p:spPr>
          <a:xfrm>
            <a:off x="0" y="0"/>
            <a:ext cx="9144000" cy="5143500"/>
          </a:xfrm>
          <a:prstGeom prst="rect">
            <a:avLst/>
          </a:prstGeom>
          <a:solidFill>
            <a:srgbClr val="000000">
              <a:alpha val="50000"/>
            </a:srgbClr>
          </a:solidFill>
          <a:ln/>
        </p:spPr>
        <p:txBody>
          <a:bodyPr/>
          <a:lstStyle/>
          <a:p>
            <a:endParaRPr lang="en-IN"/>
          </a:p>
        </p:txBody>
      </p:sp>
      <p:sp>
        <p:nvSpPr>
          <p:cNvPr id="3" name="SectionLabel"/>
          <p:cNvSpPr/>
          <p:nvPr/>
        </p:nvSpPr>
        <p:spPr>
          <a:xfrm>
            <a:off x="731520" y="274320"/>
            <a:ext cx="4572000" cy="365760"/>
          </a:xfrm>
          <a:prstGeom prst="rect">
            <a:avLst/>
          </a:prstGeom>
          <a:noFill/>
          <a:ln/>
        </p:spPr>
        <p:txBody>
          <a:bodyPr wrap="square" lIns="0" tIns="0" rIns="0" bIns="0" rtlCol="0" anchor="ctr"/>
          <a:lstStyle/>
          <a:p>
            <a:pPr marL="0" indent="0">
              <a:buNone/>
            </a:pPr>
            <a:r>
              <a:rPr lang="en-US" sz="1200" b="1" kern="0" spc="400">
                <a:solidFill>
                  <a:srgbClr val="00D9FF"/>
                </a:solidFill>
                <a:latin typeface="Arial" pitchFamily="34" charset="0"/>
                <a:ea typeface="Arial" pitchFamily="34" charset="-122"/>
                <a:cs typeface="Arial" pitchFamily="34" charset="-120"/>
              </a:rPr>
              <a:t>PROJECT FEATURES</a:t>
            </a:r>
          </a:p>
        </p:txBody>
      </p:sp>
      <p:sp>
        <p:nvSpPr>
          <p:cNvPr id="4" name="SlideTitle"/>
          <p:cNvSpPr/>
          <p:nvPr/>
        </p:nvSpPr>
        <p:spPr>
          <a:xfrm>
            <a:off x="731520" y="640080"/>
            <a:ext cx="7680000" cy="548640"/>
          </a:xfrm>
          <a:prstGeom prst="rect">
            <a:avLst/>
          </a:prstGeom>
          <a:noFill/>
          <a:ln/>
        </p:spPr>
        <p:txBody>
          <a:bodyPr wrap="square" lIns="0" tIns="0" rIns="0" bIns="0" rtlCol="0" anchor="ctr"/>
          <a:lstStyle/>
          <a:p>
            <a:pPr marL="0" indent="0" algn="l">
              <a:buNone/>
            </a:pPr>
            <a:r>
              <a:rPr lang="en-US" sz="2400" b="1" dirty="0">
                <a:solidFill>
                  <a:srgbClr val="EAF6FF"/>
                </a:solidFill>
                <a:latin typeface="Arial Black" pitchFamily="34" charset="0"/>
                <a:ea typeface="Arial Black" pitchFamily="34" charset="-122"/>
                <a:cs typeface="Arial Black" pitchFamily="34" charset="-120"/>
              </a:rPr>
              <a:t>Climate Control &amp; Safety</a:t>
            </a:r>
          </a:p>
        </p:txBody>
      </p:sp>
      <p:sp>
        <p:nvSpPr>
          <p:cNvPr id="5" name="CardBgL"/>
          <p:cNvSpPr/>
          <p:nvPr/>
        </p:nvSpPr>
        <p:spPr>
          <a:xfrm>
            <a:off x="4572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6" name="NumL"/>
          <p:cNvSpPr/>
          <p:nvPr/>
        </p:nvSpPr>
        <p:spPr>
          <a:xfrm>
            <a:off x="6172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03</a:t>
            </a:r>
          </a:p>
        </p:txBody>
      </p:sp>
      <p:sp>
        <p:nvSpPr>
          <p:cNvPr id="7" name="TitleL"/>
          <p:cNvSpPr/>
          <p:nvPr/>
        </p:nvSpPr>
        <p:spPr>
          <a:xfrm>
            <a:off x="110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Automated Climate Hardware Switching</a:t>
            </a:r>
          </a:p>
        </p:txBody>
      </p:sp>
      <p:sp>
        <p:nvSpPr>
          <p:cNvPr id="8" name="DescL"/>
          <p:cNvSpPr/>
          <p:nvPr/>
        </p:nvSpPr>
        <p:spPr>
          <a:xfrm>
            <a:off x="6172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Dynamically activates a cooling fan or heating LED when incubator temperatures breach critical clinical boundaries. The system uses threshold-based logic with hysteresis to prevent rapid on-off cycling, ensuring stable thermal regulation within the narrow 36.0-37.5 C range critical for premature infant survival.</a:t>
            </a:r>
          </a:p>
        </p:txBody>
      </p:sp>
      <p:sp>
        <p:nvSpPr>
          <p:cNvPr id="9" name="CardBgR"/>
          <p:cNvSpPr/>
          <p:nvPr/>
        </p:nvSpPr>
        <p:spPr>
          <a:xfrm>
            <a:off x="47268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10" name="NumR"/>
          <p:cNvSpPr/>
          <p:nvPr/>
        </p:nvSpPr>
        <p:spPr>
          <a:xfrm>
            <a:off x="48868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04</a:t>
            </a:r>
          </a:p>
        </p:txBody>
      </p:sp>
      <p:sp>
        <p:nvSpPr>
          <p:cNvPr id="11" name="TitleR"/>
          <p:cNvSpPr/>
          <p:nvPr/>
        </p:nvSpPr>
        <p:spPr>
          <a:xfrm>
            <a:off x="537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Progressive Hardware Buzzer Alarm</a:t>
            </a:r>
          </a:p>
        </p:txBody>
      </p:sp>
      <p:sp>
        <p:nvSpPr>
          <p:cNvPr id="12" name="DescR"/>
          <p:cNvSpPr/>
          <p:nvPr/>
        </p:nvSpPr>
        <p:spPr>
          <a:xfrm>
            <a:off x="48868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Triggers an active physical buzzer alert pulsing at 400ms intervals if patient stillness exceeds a 14-second threshold. This progressive alarm escalation ensures immediate bedside attention for potential apnea events, functioning independently of network connectivity as a fail-safe hardware-level safety mechanism.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erlay"/>
          <p:cNvSpPr/>
          <p:nvPr/>
        </p:nvSpPr>
        <p:spPr>
          <a:xfrm>
            <a:off x="0" y="0"/>
            <a:ext cx="9144000" cy="5143500"/>
          </a:xfrm>
          <a:prstGeom prst="rect">
            <a:avLst/>
          </a:prstGeom>
          <a:solidFill>
            <a:srgbClr val="000000">
              <a:alpha val="50000"/>
            </a:srgbClr>
          </a:solidFill>
          <a:ln/>
        </p:spPr>
        <p:txBody>
          <a:bodyPr/>
          <a:lstStyle/>
          <a:p>
            <a:endParaRPr lang="en-IN"/>
          </a:p>
        </p:txBody>
      </p:sp>
      <p:sp>
        <p:nvSpPr>
          <p:cNvPr id="3" name="SectionLabel"/>
          <p:cNvSpPr/>
          <p:nvPr/>
        </p:nvSpPr>
        <p:spPr>
          <a:xfrm>
            <a:off x="731520" y="274320"/>
            <a:ext cx="4572000" cy="365760"/>
          </a:xfrm>
          <a:prstGeom prst="rect">
            <a:avLst/>
          </a:prstGeom>
          <a:noFill/>
          <a:ln/>
        </p:spPr>
        <p:txBody>
          <a:bodyPr wrap="square" lIns="0" tIns="0" rIns="0" bIns="0" rtlCol="0" anchor="ctr"/>
          <a:lstStyle/>
          <a:p>
            <a:pPr marL="0" indent="0">
              <a:buNone/>
            </a:pPr>
            <a:r>
              <a:rPr lang="en-US" sz="1200" b="1" kern="0" spc="400">
                <a:solidFill>
                  <a:srgbClr val="00D9FF"/>
                </a:solidFill>
                <a:latin typeface="Arial" pitchFamily="34" charset="0"/>
                <a:ea typeface="Arial" pitchFamily="34" charset="-122"/>
                <a:cs typeface="Arial" pitchFamily="34" charset="-120"/>
              </a:rPr>
              <a:t>PROJECT FEATURES</a:t>
            </a:r>
          </a:p>
        </p:txBody>
      </p:sp>
      <p:sp>
        <p:nvSpPr>
          <p:cNvPr id="4" name="SlideTitle"/>
          <p:cNvSpPr/>
          <p:nvPr/>
        </p:nvSpPr>
        <p:spPr>
          <a:xfrm>
            <a:off x="731520" y="640080"/>
            <a:ext cx="7680000" cy="548640"/>
          </a:xfrm>
          <a:prstGeom prst="rect">
            <a:avLst/>
          </a:prstGeom>
          <a:noFill/>
          <a:ln/>
        </p:spPr>
        <p:txBody>
          <a:bodyPr wrap="square" lIns="0" tIns="0" rIns="0" bIns="0" rtlCol="0" anchor="ctr"/>
          <a:lstStyle/>
          <a:p>
            <a:pPr marL="0" indent="0" algn="l">
              <a:buNone/>
            </a:pPr>
            <a:r>
              <a:rPr lang="en-US" sz="2400" b="1" dirty="0">
                <a:solidFill>
                  <a:srgbClr val="EAF6FF"/>
                </a:solidFill>
                <a:latin typeface="Arial Black" pitchFamily="34" charset="0"/>
                <a:ea typeface="Arial Black" pitchFamily="34" charset="-122"/>
                <a:cs typeface="Arial Black" pitchFamily="34" charset="-120"/>
              </a:rPr>
              <a:t>Smart Alerts &amp; Communication</a:t>
            </a:r>
          </a:p>
        </p:txBody>
      </p:sp>
      <p:sp>
        <p:nvSpPr>
          <p:cNvPr id="5" name="CardBgL"/>
          <p:cNvSpPr/>
          <p:nvPr/>
        </p:nvSpPr>
        <p:spPr>
          <a:xfrm>
            <a:off x="4572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6" name="NumL"/>
          <p:cNvSpPr/>
          <p:nvPr/>
        </p:nvSpPr>
        <p:spPr>
          <a:xfrm>
            <a:off x="6172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05</a:t>
            </a:r>
          </a:p>
        </p:txBody>
      </p:sp>
      <p:sp>
        <p:nvSpPr>
          <p:cNvPr id="7" name="TitleL"/>
          <p:cNvSpPr/>
          <p:nvPr/>
        </p:nvSpPr>
        <p:spPr>
          <a:xfrm>
            <a:off x="110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Aseptic Optical Alarm Suppression</a:t>
            </a:r>
          </a:p>
        </p:txBody>
      </p:sp>
      <p:sp>
        <p:nvSpPr>
          <p:cNvPr id="8" name="DescL"/>
          <p:cNvSpPr/>
          <p:nvPr/>
        </p:nvSpPr>
        <p:spPr>
          <a:xfrm>
            <a:off x="6172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Allows medical staff to instantly mute active buzzer alerts without physical touch by casting a flashlight beam over the light sensor. This touchless interaction eliminates contact-based infection vectors while enabling rapid alarm acknowledgment during routine clinical workflows in sterile NICU environments.</a:t>
            </a:r>
          </a:p>
        </p:txBody>
      </p:sp>
      <p:sp>
        <p:nvSpPr>
          <p:cNvPr id="9" name="CardBgR"/>
          <p:cNvSpPr/>
          <p:nvPr/>
        </p:nvSpPr>
        <p:spPr>
          <a:xfrm>
            <a:off x="47268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10" name="NumR"/>
          <p:cNvSpPr/>
          <p:nvPr/>
        </p:nvSpPr>
        <p:spPr>
          <a:xfrm>
            <a:off x="48868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06</a:t>
            </a:r>
          </a:p>
        </p:txBody>
      </p:sp>
      <p:sp>
        <p:nvSpPr>
          <p:cNvPr id="11" name="TitleR"/>
          <p:cNvSpPr/>
          <p:nvPr/>
        </p:nvSpPr>
        <p:spPr>
          <a:xfrm>
            <a:off x="537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Real-Time Telegram Bot Dispatches</a:t>
            </a:r>
          </a:p>
        </p:txBody>
      </p:sp>
      <p:sp>
        <p:nvSpPr>
          <p:cNvPr id="12" name="DescR"/>
          <p:cNvSpPr/>
          <p:nvPr/>
        </p:nvSpPr>
        <p:spPr>
          <a:xfrm>
            <a:off x="48868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Broadcasts immediate, remote notifications of temperature anomalies, stillness tracking updates, and alarm status transitions directly to medical staff via Telegram. Staff receive structured alerts on any smartphone, enabling remote oversight of multiple incubators without being physically present at each bedside station.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erlay"/>
          <p:cNvSpPr/>
          <p:nvPr/>
        </p:nvSpPr>
        <p:spPr>
          <a:xfrm>
            <a:off x="0" y="0"/>
            <a:ext cx="9144000" cy="5143500"/>
          </a:xfrm>
          <a:prstGeom prst="rect">
            <a:avLst/>
          </a:prstGeom>
          <a:solidFill>
            <a:srgbClr val="000000">
              <a:alpha val="50000"/>
            </a:srgbClr>
          </a:solidFill>
          <a:ln/>
        </p:spPr>
        <p:txBody>
          <a:bodyPr/>
          <a:lstStyle/>
          <a:p>
            <a:endParaRPr lang="en-IN"/>
          </a:p>
        </p:txBody>
      </p:sp>
      <p:sp>
        <p:nvSpPr>
          <p:cNvPr id="3" name="SectionLabel"/>
          <p:cNvSpPr/>
          <p:nvPr/>
        </p:nvSpPr>
        <p:spPr>
          <a:xfrm>
            <a:off x="731520" y="274320"/>
            <a:ext cx="4572000" cy="365760"/>
          </a:xfrm>
          <a:prstGeom prst="rect">
            <a:avLst/>
          </a:prstGeom>
          <a:noFill/>
          <a:ln/>
        </p:spPr>
        <p:txBody>
          <a:bodyPr wrap="square" lIns="0" tIns="0" rIns="0" bIns="0" rtlCol="0" anchor="ctr"/>
          <a:lstStyle/>
          <a:p>
            <a:pPr marL="0" indent="0">
              <a:buNone/>
            </a:pPr>
            <a:r>
              <a:rPr lang="en-US" sz="1200" b="1" kern="0" spc="400">
                <a:solidFill>
                  <a:srgbClr val="00D9FF"/>
                </a:solidFill>
                <a:latin typeface="Arial" pitchFamily="34" charset="0"/>
                <a:ea typeface="Arial" pitchFamily="34" charset="-122"/>
                <a:cs typeface="Arial" pitchFamily="34" charset="-120"/>
              </a:rPr>
              <a:t>PROJECT FEATURES</a:t>
            </a:r>
          </a:p>
        </p:txBody>
      </p:sp>
      <p:sp>
        <p:nvSpPr>
          <p:cNvPr id="4" name="SlideTitle"/>
          <p:cNvSpPr/>
          <p:nvPr/>
        </p:nvSpPr>
        <p:spPr>
          <a:xfrm>
            <a:off x="731520" y="640080"/>
            <a:ext cx="7680000" cy="548640"/>
          </a:xfrm>
          <a:prstGeom prst="rect">
            <a:avLst/>
          </a:prstGeom>
          <a:noFill/>
          <a:ln/>
        </p:spPr>
        <p:txBody>
          <a:bodyPr wrap="square" lIns="0" tIns="0" rIns="0" bIns="0" rtlCol="0" anchor="ctr"/>
          <a:lstStyle/>
          <a:p>
            <a:pPr marL="0" indent="0" algn="l">
              <a:buNone/>
            </a:pPr>
            <a:r>
              <a:rPr lang="en-US" sz="2400" b="1" dirty="0">
                <a:solidFill>
                  <a:srgbClr val="EAF6FF"/>
                </a:solidFill>
                <a:latin typeface="Arial Black" pitchFamily="34" charset="0"/>
                <a:ea typeface="Arial Black" pitchFamily="34" charset="-122"/>
                <a:cs typeface="Arial Black" pitchFamily="34" charset="-120"/>
              </a:rPr>
              <a:t>Cloud Analytics &amp; Logging </a:t>
            </a:r>
          </a:p>
        </p:txBody>
      </p:sp>
      <p:sp>
        <p:nvSpPr>
          <p:cNvPr id="5" name="CardBgL"/>
          <p:cNvSpPr/>
          <p:nvPr/>
        </p:nvSpPr>
        <p:spPr>
          <a:xfrm>
            <a:off x="4572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6" name="NumL"/>
          <p:cNvSpPr/>
          <p:nvPr/>
        </p:nvSpPr>
        <p:spPr>
          <a:xfrm>
            <a:off x="6172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07</a:t>
            </a:r>
          </a:p>
        </p:txBody>
      </p:sp>
      <p:sp>
        <p:nvSpPr>
          <p:cNvPr id="7" name="TitleL"/>
          <p:cNvSpPr/>
          <p:nvPr/>
        </p:nvSpPr>
        <p:spPr>
          <a:xfrm>
            <a:off x="110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Live Cloud Graphing via ThingSpeak</a:t>
            </a:r>
          </a:p>
        </p:txBody>
      </p:sp>
      <p:sp>
        <p:nvSpPr>
          <p:cNvPr id="8" name="DescL"/>
          <p:cNvSpPr/>
          <p:nvPr/>
        </p:nvSpPr>
        <p:spPr>
          <a:xfrm>
            <a:off x="6172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Streams live environmental telemetry across 4 distinct fields every 20 seconds for continuous, real-time data visualization. Temperature, humidity, stillness duration, and alarm states are plotted as time-series graphs accessible from any browser, enabling trend analysis and remote monitoring by supervisory medical staff.</a:t>
            </a:r>
          </a:p>
        </p:txBody>
      </p:sp>
      <p:sp>
        <p:nvSpPr>
          <p:cNvPr id="9" name="CardBgR"/>
          <p:cNvSpPr/>
          <p:nvPr/>
        </p:nvSpPr>
        <p:spPr>
          <a:xfrm>
            <a:off x="47268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10" name="NumR"/>
          <p:cNvSpPr/>
          <p:nvPr/>
        </p:nvSpPr>
        <p:spPr>
          <a:xfrm>
            <a:off x="48868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08</a:t>
            </a:r>
          </a:p>
        </p:txBody>
      </p:sp>
      <p:sp>
        <p:nvSpPr>
          <p:cNvPr id="11" name="TitleR"/>
          <p:cNvSpPr/>
          <p:nvPr/>
        </p:nvSpPr>
        <p:spPr>
          <a:xfrm>
            <a:off x="537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Automated Google Sheets Logging</a:t>
            </a:r>
          </a:p>
        </p:txBody>
      </p:sp>
      <p:sp>
        <p:nvSpPr>
          <p:cNvPr id="12" name="DescR"/>
          <p:cNvSpPr/>
          <p:nvPr/>
        </p:nvSpPr>
        <p:spPr>
          <a:xfrm>
            <a:off x="48868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Leverages high-security service accounts to append historical, NTP-timestamped records of all 4 key sensor parameters. Every data point is permanently archived in structured spreadsheets, creating an auditable clinical record suitable for regulatory compliance, shift handover reports, and long-term patient outcome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erlay"/>
          <p:cNvSpPr/>
          <p:nvPr/>
        </p:nvSpPr>
        <p:spPr>
          <a:xfrm>
            <a:off x="0" y="0"/>
            <a:ext cx="9144000" cy="5143500"/>
          </a:xfrm>
          <a:prstGeom prst="rect">
            <a:avLst/>
          </a:prstGeom>
          <a:solidFill>
            <a:srgbClr val="000000">
              <a:alpha val="50000"/>
            </a:srgbClr>
          </a:solidFill>
          <a:ln/>
        </p:spPr>
        <p:txBody>
          <a:bodyPr/>
          <a:lstStyle/>
          <a:p>
            <a:endParaRPr lang="en-IN"/>
          </a:p>
        </p:txBody>
      </p:sp>
      <p:sp>
        <p:nvSpPr>
          <p:cNvPr id="3" name="SectionLabel"/>
          <p:cNvSpPr/>
          <p:nvPr/>
        </p:nvSpPr>
        <p:spPr>
          <a:xfrm>
            <a:off x="731520" y="274320"/>
            <a:ext cx="4572000" cy="365760"/>
          </a:xfrm>
          <a:prstGeom prst="rect">
            <a:avLst/>
          </a:prstGeom>
          <a:noFill/>
          <a:ln/>
        </p:spPr>
        <p:txBody>
          <a:bodyPr wrap="square" lIns="0" tIns="0" rIns="0" bIns="0" rtlCol="0" anchor="ctr"/>
          <a:lstStyle/>
          <a:p>
            <a:pPr marL="0" indent="0">
              <a:buNone/>
            </a:pPr>
            <a:r>
              <a:rPr lang="en-US" sz="1200" b="1" kern="0" spc="400">
                <a:solidFill>
                  <a:srgbClr val="00D9FF"/>
                </a:solidFill>
                <a:latin typeface="Arial" pitchFamily="34" charset="0"/>
                <a:ea typeface="Arial" pitchFamily="34" charset="-122"/>
                <a:cs typeface="Arial" pitchFamily="34" charset="-120"/>
              </a:rPr>
              <a:t>PROJECT FEATURES</a:t>
            </a:r>
          </a:p>
        </p:txBody>
      </p:sp>
      <p:sp>
        <p:nvSpPr>
          <p:cNvPr id="4" name="SlideTitle"/>
          <p:cNvSpPr/>
          <p:nvPr/>
        </p:nvSpPr>
        <p:spPr>
          <a:xfrm>
            <a:off x="731520" y="640080"/>
            <a:ext cx="7680000" cy="548640"/>
          </a:xfrm>
          <a:prstGeom prst="rect">
            <a:avLst/>
          </a:prstGeom>
          <a:noFill/>
          <a:ln/>
        </p:spPr>
        <p:txBody>
          <a:bodyPr wrap="square" lIns="0" tIns="0" rIns="0" bIns="0" rtlCol="0" anchor="ctr"/>
          <a:lstStyle/>
          <a:p>
            <a:pPr marL="0" indent="0" algn="l">
              <a:buNone/>
            </a:pPr>
            <a:r>
              <a:rPr lang="en-US" sz="2400" b="1" dirty="0">
                <a:solidFill>
                  <a:srgbClr val="EAF6FF"/>
                </a:solidFill>
                <a:latin typeface="Arial Black" pitchFamily="34" charset="0"/>
                <a:ea typeface="Arial Black" pitchFamily="34" charset="-122"/>
                <a:cs typeface="Arial Black" pitchFamily="34" charset="-120"/>
              </a:rPr>
              <a:t>Offline Resilience &amp; Reporting</a:t>
            </a:r>
          </a:p>
        </p:txBody>
      </p:sp>
      <p:sp>
        <p:nvSpPr>
          <p:cNvPr id="5" name="CardBgL"/>
          <p:cNvSpPr/>
          <p:nvPr/>
        </p:nvSpPr>
        <p:spPr>
          <a:xfrm>
            <a:off x="4572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6" name="NumL"/>
          <p:cNvSpPr/>
          <p:nvPr/>
        </p:nvSpPr>
        <p:spPr>
          <a:xfrm>
            <a:off x="6172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09</a:t>
            </a:r>
          </a:p>
        </p:txBody>
      </p:sp>
      <p:sp>
        <p:nvSpPr>
          <p:cNvPr id="7" name="TitleL"/>
          <p:cNvSpPr/>
          <p:nvPr/>
        </p:nvSpPr>
        <p:spPr>
          <a:xfrm>
            <a:off x="110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Self-Hosted Offline Fallback Network</a:t>
            </a:r>
          </a:p>
        </p:txBody>
      </p:sp>
      <p:sp>
        <p:nvSpPr>
          <p:cNvPr id="8" name="DescL"/>
          <p:cNvSpPr/>
          <p:nvPr/>
        </p:nvSpPr>
        <p:spPr>
          <a:xfrm>
            <a:off x="6172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Provisions an optional local Wi-Fi hotspot (192.168.4.1) featuring an interactive, standalone web dashboard with live graphs and alerts. When facility internet fails, this self-hosted network ensures zero monitoring downtime by serving a fully functional local interface accessible from any Wi-Fi-enabled device.</a:t>
            </a:r>
          </a:p>
        </p:txBody>
      </p:sp>
      <p:sp>
        <p:nvSpPr>
          <p:cNvPr id="9" name="CardBgR"/>
          <p:cNvSpPr/>
          <p:nvPr/>
        </p:nvSpPr>
        <p:spPr>
          <a:xfrm>
            <a:off x="4726800" y="1280000"/>
            <a:ext cx="3960000" cy="2800000"/>
          </a:xfrm>
          <a:prstGeom prst="rect">
            <a:avLst/>
          </a:prstGeom>
          <a:solidFill>
            <a:srgbClr val="0D1B2A">
              <a:alpha val="80000"/>
            </a:srgbClr>
          </a:solidFill>
          <a:ln w="12700">
            <a:solidFill>
              <a:srgbClr val="1B3A5C"/>
            </a:solidFill>
          </a:ln>
        </p:spPr>
        <p:txBody>
          <a:bodyPr/>
          <a:lstStyle/>
          <a:p>
            <a:endParaRPr lang="en-IN"/>
          </a:p>
        </p:txBody>
      </p:sp>
      <p:sp>
        <p:nvSpPr>
          <p:cNvPr id="10" name="NumR"/>
          <p:cNvSpPr/>
          <p:nvPr/>
        </p:nvSpPr>
        <p:spPr>
          <a:xfrm>
            <a:off x="4886800" y="1420000"/>
            <a:ext cx="420000" cy="420000"/>
          </a:xfrm>
          <a:prstGeom prst="ellipse">
            <a:avLst/>
          </a:prstGeom>
          <a:solidFill>
            <a:srgbClr val="00D9FF"/>
          </a:solidFill>
          <a:ln>
            <a:noFill/>
          </a:ln>
        </p:spPr>
        <p:txBody>
          <a:bodyPr wrap="none" lIns="0" tIns="0" rIns="0" bIns="0" anchor="ctr"/>
          <a:lstStyle/>
          <a:p>
            <a:pPr algn="ctr">
              <a:buNone/>
            </a:pPr>
            <a:r>
              <a:rPr lang="en-US" sz="1400" b="1">
                <a:solidFill>
                  <a:srgbClr val="0D1B2A"/>
                </a:solidFill>
                <a:latin typeface="Arial Black" pitchFamily="34" charset="0"/>
              </a:rPr>
              <a:t>10</a:t>
            </a:r>
          </a:p>
        </p:txBody>
      </p:sp>
      <p:sp>
        <p:nvSpPr>
          <p:cNvPr id="11" name="TitleR"/>
          <p:cNvSpPr/>
          <p:nvPr/>
        </p:nvSpPr>
        <p:spPr>
          <a:xfrm>
            <a:off x="5370000" y="1420000"/>
            <a:ext cx="3100000" cy="420000"/>
          </a:xfrm>
          <a:prstGeom prst="rect">
            <a:avLst/>
          </a:prstGeom>
          <a:noFill/>
          <a:ln/>
        </p:spPr>
        <p:txBody>
          <a:bodyPr wrap="square" lIns="0" tIns="0" rIns="0" bIns="0" rtlCol="0" anchor="ctr"/>
          <a:lstStyle/>
          <a:p>
            <a:pPr marL="0" indent="0">
              <a:buNone/>
            </a:pPr>
            <a:r>
              <a:rPr lang="en-US" sz="1400" b="1">
                <a:solidFill>
                  <a:srgbClr val="00D9FF"/>
                </a:solidFill>
                <a:latin typeface="Arial" pitchFamily="34" charset="0"/>
              </a:rPr>
              <a:t>On-Demand Python Reporting Engine</a:t>
            </a:r>
          </a:p>
        </p:txBody>
      </p:sp>
      <p:sp>
        <p:nvSpPr>
          <p:cNvPr id="12" name="DescR"/>
          <p:cNvSpPr/>
          <p:nvPr/>
        </p:nvSpPr>
        <p:spPr>
          <a:xfrm>
            <a:off x="4886800" y="1950000"/>
            <a:ext cx="3600000" cy="2000000"/>
          </a:xfrm>
          <a:prstGeom prst="rect">
            <a:avLst/>
          </a:prstGeom>
          <a:noFill/>
          <a:ln/>
        </p:spPr>
        <p:txBody>
          <a:bodyPr wrap="square" lIns="0" tIns="0" rIns="0" bIns="0" rtlCol="0" anchor="t"/>
          <a:lstStyle/>
          <a:p>
            <a:pPr marL="0" indent="0" algn="ctr">
              <a:buNone/>
            </a:pPr>
            <a:r>
              <a:rPr lang="en-US" sz="1300" dirty="0">
                <a:solidFill>
                  <a:srgbClr val="C8DAEF"/>
                </a:solidFill>
                <a:latin typeface="Arial" pitchFamily="34" charset="0"/>
              </a:rPr>
              <a:t>Includes a standalone desktop script that reads downloaded telemetry .csv files to auto-generate a comprehensive, publication-ready clinical trend report using matplotlib. Produces formatted PDF reports with annotated charts, statistical summaries, and trend analysis for medical review and academic documentation.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verlay"/>
          <p:cNvSpPr/>
          <p:nvPr/>
        </p:nvSpPr>
        <p:spPr>
          <a:xfrm>
            <a:off x="0" y="0"/>
            <a:ext cx="9144000" cy="5143500"/>
          </a:xfrm>
          <a:prstGeom prst="rect">
            <a:avLst/>
          </a:prstGeom>
          <a:solidFill>
            <a:srgbClr val="000000">
              <a:alpha val="50000"/>
            </a:srgbClr>
          </a:solidFill>
          <a:ln/>
        </p:spPr>
        <p:txBody>
          <a:bodyPr/>
          <a:lstStyle/>
          <a:p>
            <a:endParaRPr lang="en-IN"/>
          </a:p>
        </p:txBody>
      </p:sp>
      <p:sp>
        <p:nvSpPr>
          <p:cNvPr id="3" name="SectionLabel"/>
          <p:cNvSpPr/>
          <p:nvPr/>
        </p:nvSpPr>
        <p:spPr>
          <a:xfrm>
            <a:off x="731520" y="274320"/>
            <a:ext cx="4572000" cy="365760"/>
          </a:xfrm>
          <a:prstGeom prst="rect">
            <a:avLst/>
          </a:prstGeom>
          <a:noFill/>
          <a:ln/>
        </p:spPr>
        <p:txBody>
          <a:bodyPr wrap="square" lIns="0" tIns="0" rIns="0" bIns="0" rtlCol="0" anchor="ctr"/>
          <a:lstStyle/>
          <a:p>
            <a:pPr marL="0" indent="0">
              <a:buNone/>
            </a:pPr>
            <a:r>
              <a:rPr lang="en-US" sz="1200" b="1" kern="0" spc="400">
                <a:solidFill>
                  <a:srgbClr val="00D9FF"/>
                </a:solidFill>
                <a:latin typeface="Arial" pitchFamily="34" charset="0"/>
                <a:ea typeface="Arial" pitchFamily="34" charset="-122"/>
                <a:cs typeface="Arial" pitchFamily="34" charset="-120"/>
              </a:rPr>
              <a:t>LIVE DEMO</a:t>
            </a:r>
          </a:p>
        </p:txBody>
      </p:sp>
      <p:sp>
        <p:nvSpPr>
          <p:cNvPr id="4" name="SlideTitle"/>
          <p:cNvSpPr/>
          <p:nvPr/>
        </p:nvSpPr>
        <p:spPr>
          <a:xfrm>
            <a:off x="731520" y="640080"/>
            <a:ext cx="7680000" cy="548640"/>
          </a:xfrm>
          <a:prstGeom prst="rect">
            <a:avLst/>
          </a:prstGeom>
          <a:noFill/>
          <a:ln/>
        </p:spPr>
        <p:txBody>
          <a:bodyPr wrap="square" lIns="0" tIns="0" rIns="0" bIns="0" rtlCol="0" anchor="ctr"/>
          <a:lstStyle/>
          <a:p>
            <a:pPr marL="0" indent="0" algn="l">
              <a:buNone/>
            </a:pPr>
            <a:r>
              <a:rPr lang="en-US" sz="2400" b="1">
                <a:solidFill>
                  <a:srgbClr val="EAF6FF"/>
                </a:solidFill>
                <a:latin typeface="Arial Black" pitchFamily="34" charset="0"/>
              </a:rPr>
              <a:t>Offline Web Dashboard</a:t>
            </a:r>
          </a:p>
        </p:txBody>
      </p:sp>
      <p:sp>
        <p:nvSpPr>
          <p:cNvPr id="5" name="DashDesc"/>
          <p:cNvSpPr/>
          <p:nvPr/>
        </p:nvSpPr>
        <p:spPr>
          <a:xfrm>
            <a:off x="731520" y="1188720"/>
            <a:ext cx="7680000" cy="365760"/>
          </a:xfrm>
          <a:prstGeom prst="rect">
            <a:avLst/>
          </a:prstGeom>
          <a:noFill/>
          <a:ln/>
        </p:spPr>
        <p:txBody>
          <a:bodyPr wrap="square" lIns="0" tIns="0" rIns="0" bIns="0" rtlCol="0" anchor="t"/>
          <a:lstStyle/>
          <a:p>
            <a:pPr marL="0" indent="0">
              <a:buNone/>
            </a:pPr>
            <a:r>
              <a:rPr lang="en-US" sz="1100">
                <a:solidFill>
                  <a:srgbClr val="C8DAEF"/>
                </a:solidFill>
                <a:latin typeface="Arial" pitchFamily="34" charset="0"/>
              </a:rPr>
              <a:t>Self-hosted fallback network at 192.168.4.1 with interactive live graphs, alerts, and real-time telemetry</a:t>
            </a:r>
          </a:p>
        </p:txBody>
      </p:sp>
      <p:sp>
        <p:nvSpPr>
          <p:cNvPr id="6" name="Screenshot1"/>
          <p:cNvSpPr/>
          <p:nvPr/>
        </p:nvSpPr>
        <p:spPr>
          <a:xfrm>
            <a:off x="550000" y="1700000"/>
            <a:ext cx="3800000" cy="2900000"/>
          </a:xfrm>
          <a:prstGeom prst="rect">
            <a:avLst/>
          </a:prstGeom>
          <a:solidFill>
            <a:srgbClr val="0D1B2A">
              <a:alpha val="60000"/>
            </a:srgbClr>
          </a:solidFill>
          <a:ln w="19050" cmpd="sng">
            <a:solidFill>
              <a:srgbClr val="1B3A5C"/>
            </a:solidFill>
            <a:prstDash val="dash"/>
          </a:ln>
        </p:spPr>
        <p:txBody>
          <a:bodyPr wrap="square" lIns="91440" tIns="91440" rIns="91440" bIns="91440" anchor="ctr"/>
          <a:lstStyle/>
          <a:p>
            <a:pPr algn="ctr">
              <a:buNone/>
            </a:pPr>
            <a:endParaRPr lang="en-US" sz="1200" dirty="0">
              <a:solidFill>
                <a:srgbClr val="4A6A8A"/>
              </a:solidFill>
              <a:latin typeface="Arial" pitchFamily="34" charset="0"/>
            </a:endParaRPr>
          </a:p>
        </p:txBody>
      </p:sp>
      <p:sp>
        <p:nvSpPr>
          <p:cNvPr id="7" name="Screenshot2"/>
          <p:cNvSpPr/>
          <p:nvPr/>
        </p:nvSpPr>
        <p:spPr>
          <a:xfrm>
            <a:off x="4550000" y="1700000"/>
            <a:ext cx="3800000" cy="2900000"/>
          </a:xfrm>
          <a:prstGeom prst="rect">
            <a:avLst/>
          </a:prstGeom>
          <a:solidFill>
            <a:srgbClr val="0D1B2A">
              <a:alpha val="60000"/>
            </a:srgbClr>
          </a:solidFill>
          <a:ln w="19050" cmpd="sng">
            <a:solidFill>
              <a:srgbClr val="1B3A5C"/>
            </a:solidFill>
            <a:prstDash val="dash"/>
          </a:ln>
        </p:spPr>
        <p:txBody>
          <a:bodyPr wrap="square" lIns="91440" tIns="91440" rIns="91440" bIns="91440" anchor="ctr"/>
          <a:lstStyle/>
          <a:p>
            <a:pPr algn="ctr">
              <a:buNone/>
            </a:pPr>
            <a:r>
              <a:rPr lang="en-IN" sz="1300" dirty="0">
                <a:solidFill>
                  <a:schemeClr val="bg1"/>
                </a:solidFill>
                <a:latin typeface="Arial" pitchFamily="34" charset="0"/>
              </a:rPr>
              <a:t>Although it wasn’t  a part of our proposed project. We have developed an additional code, in which all the other factors of the incubators remain unchanged except the one working on Wi-Fi (Telegram alerts, Google sheets, Thingspeak graph.) </a:t>
            </a:r>
          </a:p>
          <a:p>
            <a:pPr algn="ctr">
              <a:buNone/>
            </a:pPr>
            <a:r>
              <a:rPr lang="en-IN" sz="1300" dirty="0">
                <a:solidFill>
                  <a:schemeClr val="bg1"/>
                </a:solidFill>
                <a:latin typeface="Arial" pitchFamily="34" charset="0"/>
              </a:rPr>
              <a:t>It uses ESP32’s self-hosted Wi-Fi to give graph and alerts. As shown in the screenshots.</a:t>
            </a:r>
          </a:p>
          <a:p>
            <a:pPr algn="ctr">
              <a:buNone/>
            </a:pPr>
            <a:r>
              <a:rPr lang="en-IN" sz="1300" dirty="0">
                <a:solidFill>
                  <a:schemeClr val="bg1"/>
                </a:solidFill>
                <a:latin typeface="Arial" pitchFamily="34" charset="0"/>
              </a:rPr>
              <a:t>For the hospitals that don’t have Wi-Fi systems.</a:t>
            </a:r>
            <a:endParaRPr lang="en-US" sz="1300" dirty="0">
              <a:solidFill>
                <a:schemeClr val="bg1"/>
              </a:solidFill>
              <a:latin typeface="Arial" pitchFamily="34" charset="0"/>
            </a:endParaRPr>
          </a:p>
        </p:txBody>
      </p:sp>
      <p:pic>
        <p:nvPicPr>
          <p:cNvPr id="11" name="Picture 10">
            <a:extLst>
              <a:ext uri="{FF2B5EF4-FFF2-40B4-BE49-F238E27FC236}">
                <a16:creationId xmlns:a16="http://schemas.microsoft.com/office/drawing/2014/main" id="{898D0285-B7EE-CB78-BC7E-97705AA3C00E}"/>
              </a:ext>
            </a:extLst>
          </p:cNvPr>
          <p:cNvPicPr>
            <a:picLocks noChangeAspect="1"/>
          </p:cNvPicPr>
          <p:nvPr/>
        </p:nvPicPr>
        <p:blipFill>
          <a:blip r:embed="rId3"/>
          <a:srcRect l="29" t="8009" r="-29" b="34625"/>
          <a:stretch>
            <a:fillRect/>
          </a:stretch>
        </p:blipFill>
        <p:spPr>
          <a:xfrm>
            <a:off x="550001" y="1700000"/>
            <a:ext cx="1925766" cy="2900000"/>
          </a:xfrm>
          <a:prstGeom prst="rect">
            <a:avLst/>
          </a:prstGeom>
        </p:spPr>
      </p:pic>
      <p:pic>
        <p:nvPicPr>
          <p:cNvPr id="13" name="Picture 12">
            <a:extLst>
              <a:ext uri="{FF2B5EF4-FFF2-40B4-BE49-F238E27FC236}">
                <a16:creationId xmlns:a16="http://schemas.microsoft.com/office/drawing/2014/main" id="{2C73159D-134B-BF7A-4DD2-2506EC9D6B5F}"/>
              </a:ext>
            </a:extLst>
          </p:cNvPr>
          <p:cNvPicPr>
            <a:picLocks noChangeAspect="1"/>
          </p:cNvPicPr>
          <p:nvPr/>
        </p:nvPicPr>
        <p:blipFill>
          <a:blip r:embed="rId4"/>
          <a:srcRect t="5334" b="2320"/>
          <a:stretch>
            <a:fillRect/>
          </a:stretch>
        </p:blipFill>
        <p:spPr>
          <a:xfrm>
            <a:off x="2491991" y="1683648"/>
            <a:ext cx="1858009" cy="29082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SectionLabel"/>
          <p:cNvSpPr/>
          <p:nvPr/>
        </p:nvSpPr>
        <p:spPr>
          <a:xfrm>
            <a:off x="2597019" y="219379"/>
            <a:ext cx="4572000" cy="365760"/>
          </a:xfrm>
          <a:prstGeom prst="rect">
            <a:avLst/>
          </a:prstGeom>
          <a:noFill/>
          <a:ln/>
        </p:spPr>
        <p:txBody>
          <a:bodyPr wrap="square" lIns="0" tIns="0" rIns="0" bIns="0" rtlCol="0" anchor="ctr"/>
          <a:lstStyle/>
          <a:p>
            <a:pPr marL="0" indent="0" algn="ctr">
              <a:buNone/>
            </a:pPr>
            <a:r>
              <a:rPr lang="en-US" sz="1200" b="1" kern="0" spc="400" dirty="0">
                <a:solidFill>
                  <a:srgbClr val="00D9FF"/>
                </a:solidFill>
                <a:latin typeface="Arial" pitchFamily="34" charset="0"/>
                <a:ea typeface="Arial" pitchFamily="34" charset="-122"/>
                <a:cs typeface="Arial" pitchFamily="34" charset="-120"/>
              </a:rPr>
              <a:t>PROJECT GALLERY</a:t>
            </a:r>
          </a:p>
        </p:txBody>
      </p:sp>
      <p:sp>
        <p:nvSpPr>
          <p:cNvPr id="4" name="SlideTitle"/>
          <p:cNvSpPr/>
          <p:nvPr/>
        </p:nvSpPr>
        <p:spPr>
          <a:xfrm>
            <a:off x="941426" y="623305"/>
            <a:ext cx="7680000" cy="548640"/>
          </a:xfrm>
          <a:prstGeom prst="rect">
            <a:avLst/>
          </a:prstGeom>
          <a:noFill/>
          <a:ln/>
        </p:spPr>
        <p:txBody>
          <a:bodyPr wrap="square" lIns="0" tIns="0" rIns="0" bIns="0" rtlCol="0" anchor="ctr"/>
          <a:lstStyle/>
          <a:p>
            <a:pPr marL="0" indent="0" algn="ctr">
              <a:buNone/>
            </a:pPr>
            <a:r>
              <a:rPr lang="en-US" sz="2400" b="1" dirty="0">
                <a:solidFill>
                  <a:srgbClr val="EAF6FF"/>
                </a:solidFill>
                <a:latin typeface="Arial Black" pitchFamily="34" charset="0"/>
              </a:rPr>
              <a:t>System in Action</a:t>
            </a:r>
          </a:p>
        </p:txBody>
      </p:sp>
      <p:sp>
        <p:nvSpPr>
          <p:cNvPr id="5" name="ImgPlaceholder1"/>
          <p:cNvSpPr/>
          <p:nvPr/>
        </p:nvSpPr>
        <p:spPr>
          <a:xfrm>
            <a:off x="174132" y="1828800"/>
            <a:ext cx="3228294" cy="2176971"/>
          </a:xfrm>
          <a:prstGeom prst="rect">
            <a:avLst/>
          </a:prstGeom>
          <a:solidFill>
            <a:srgbClr val="0D1B2A">
              <a:alpha val="60000"/>
            </a:srgbClr>
          </a:solidFill>
          <a:ln w="19050" cmpd="sng">
            <a:solidFill>
              <a:srgbClr val="1B3A5C"/>
            </a:solidFill>
            <a:prstDash val="dash"/>
          </a:ln>
        </p:spPr>
        <p:txBody>
          <a:bodyPr wrap="square" lIns="91440" tIns="91440" rIns="91440" bIns="91440" anchor="ctr"/>
          <a:lstStyle/>
          <a:p>
            <a:pPr algn="ctr">
              <a:buNone/>
            </a:pPr>
            <a:r>
              <a:rPr lang="en-US" sz="1200">
                <a:solidFill>
                  <a:srgbClr val="4A6A8A"/>
                </a:solidFill>
                <a:latin typeface="Arial" pitchFamily="34" charset="0"/>
              </a:rPr>
              <a:t>Add Your Image Here</a:t>
            </a:r>
          </a:p>
        </p:txBody>
      </p:sp>
      <p:sp>
        <p:nvSpPr>
          <p:cNvPr id="6" name="ImgPlaceholder2"/>
          <p:cNvSpPr/>
          <p:nvPr/>
        </p:nvSpPr>
        <p:spPr>
          <a:xfrm>
            <a:off x="3620636" y="1367182"/>
            <a:ext cx="2609347" cy="1864974"/>
          </a:xfrm>
          <a:prstGeom prst="rect">
            <a:avLst/>
          </a:prstGeom>
          <a:solidFill>
            <a:srgbClr val="0D1B2A">
              <a:alpha val="60000"/>
            </a:srgbClr>
          </a:solidFill>
          <a:ln w="19050" cmpd="sng">
            <a:solidFill>
              <a:srgbClr val="1B3A5C"/>
            </a:solidFill>
            <a:prstDash val="dash"/>
          </a:ln>
        </p:spPr>
        <p:txBody>
          <a:bodyPr wrap="square" lIns="91440" tIns="91440" rIns="91440" bIns="91440" anchor="ctr"/>
          <a:lstStyle/>
          <a:p>
            <a:pPr algn="ctr">
              <a:buNone/>
            </a:pPr>
            <a:r>
              <a:rPr lang="en-US" sz="1100">
                <a:solidFill>
                  <a:srgbClr val="4A6A8A"/>
                </a:solidFill>
                <a:latin typeface="Arial" pitchFamily="34" charset="0"/>
              </a:rPr>
              <a:t>Add Your Image Here</a:t>
            </a:r>
          </a:p>
        </p:txBody>
      </p:sp>
      <p:sp>
        <p:nvSpPr>
          <p:cNvPr id="7" name="ImgPlaceholder3"/>
          <p:cNvSpPr/>
          <p:nvPr/>
        </p:nvSpPr>
        <p:spPr>
          <a:xfrm>
            <a:off x="3590362" y="3365224"/>
            <a:ext cx="2639620" cy="1558897"/>
          </a:xfrm>
          <a:prstGeom prst="rect">
            <a:avLst/>
          </a:prstGeom>
          <a:solidFill>
            <a:srgbClr val="0D1B2A">
              <a:alpha val="60000"/>
            </a:srgbClr>
          </a:solidFill>
          <a:ln w="19050" cmpd="sng">
            <a:solidFill>
              <a:srgbClr val="1B3A5C"/>
            </a:solidFill>
            <a:prstDash val="dash"/>
          </a:ln>
        </p:spPr>
        <p:txBody>
          <a:bodyPr wrap="square" lIns="91440" tIns="91440" rIns="91440" bIns="91440" anchor="ctr"/>
          <a:lstStyle/>
          <a:p>
            <a:pPr algn="ctr">
              <a:buNone/>
            </a:pPr>
            <a:r>
              <a:rPr lang="en-US" sz="1100">
                <a:solidFill>
                  <a:srgbClr val="4A6A8A"/>
                </a:solidFill>
                <a:latin typeface="Arial" pitchFamily="34" charset="0"/>
              </a:rPr>
              <a:t>Add Your Image Here</a:t>
            </a:r>
          </a:p>
        </p:txBody>
      </p:sp>
      <p:pic>
        <p:nvPicPr>
          <p:cNvPr id="9" name="Picture 8">
            <a:extLst>
              <a:ext uri="{FF2B5EF4-FFF2-40B4-BE49-F238E27FC236}">
                <a16:creationId xmlns:a16="http://schemas.microsoft.com/office/drawing/2014/main" id="{0B4A0A70-44E8-79AA-322B-070A4FFFC3C7}"/>
              </a:ext>
            </a:extLst>
          </p:cNvPr>
          <p:cNvPicPr>
            <a:picLocks noChangeAspect="1"/>
          </p:cNvPicPr>
          <p:nvPr/>
        </p:nvPicPr>
        <p:blipFill>
          <a:blip r:embed="rId3"/>
          <a:srcRect r="16608"/>
          <a:stretch>
            <a:fillRect/>
          </a:stretch>
        </p:blipFill>
        <p:spPr>
          <a:xfrm>
            <a:off x="206060" y="1828800"/>
            <a:ext cx="3226639" cy="2176971"/>
          </a:xfrm>
          <a:prstGeom prst="rect">
            <a:avLst/>
          </a:prstGeom>
        </p:spPr>
      </p:pic>
      <p:pic>
        <p:nvPicPr>
          <p:cNvPr id="11" name="Picture 10">
            <a:extLst>
              <a:ext uri="{FF2B5EF4-FFF2-40B4-BE49-F238E27FC236}">
                <a16:creationId xmlns:a16="http://schemas.microsoft.com/office/drawing/2014/main" id="{5AB515BC-E2DD-111B-1584-87A7F7D48ADA}"/>
              </a:ext>
            </a:extLst>
          </p:cNvPr>
          <p:cNvPicPr>
            <a:picLocks noChangeAspect="1"/>
          </p:cNvPicPr>
          <p:nvPr/>
        </p:nvPicPr>
        <p:blipFill>
          <a:blip r:embed="rId4"/>
          <a:srcRect t="9825" r="23188" b="20603"/>
          <a:stretch>
            <a:fillRect/>
          </a:stretch>
        </p:blipFill>
        <p:spPr>
          <a:xfrm>
            <a:off x="3638797" y="1367182"/>
            <a:ext cx="2609347" cy="1864974"/>
          </a:xfrm>
          <a:prstGeom prst="rect">
            <a:avLst/>
          </a:prstGeom>
        </p:spPr>
      </p:pic>
      <p:pic>
        <p:nvPicPr>
          <p:cNvPr id="13" name="Picture 12">
            <a:extLst>
              <a:ext uri="{FF2B5EF4-FFF2-40B4-BE49-F238E27FC236}">
                <a16:creationId xmlns:a16="http://schemas.microsoft.com/office/drawing/2014/main" id="{4D8CBC9F-374F-FD3C-66A2-997673C3A0D5}"/>
              </a:ext>
            </a:extLst>
          </p:cNvPr>
          <p:cNvPicPr>
            <a:picLocks noChangeAspect="1"/>
          </p:cNvPicPr>
          <p:nvPr/>
        </p:nvPicPr>
        <p:blipFill>
          <a:blip r:embed="rId5"/>
          <a:stretch>
            <a:fillRect/>
          </a:stretch>
        </p:blipFill>
        <p:spPr>
          <a:xfrm>
            <a:off x="3620635" y="3344031"/>
            <a:ext cx="2609347" cy="1558896"/>
          </a:xfrm>
          <a:prstGeom prst="rect">
            <a:avLst/>
          </a:prstGeom>
        </p:spPr>
      </p:pic>
      <p:sp>
        <p:nvSpPr>
          <p:cNvPr id="14" name="ImgPlaceholder1">
            <a:extLst>
              <a:ext uri="{FF2B5EF4-FFF2-40B4-BE49-F238E27FC236}">
                <a16:creationId xmlns:a16="http://schemas.microsoft.com/office/drawing/2014/main" id="{5286A5CE-3AF8-2348-DC21-B47A86A040B5}"/>
              </a:ext>
            </a:extLst>
          </p:cNvPr>
          <p:cNvSpPr/>
          <p:nvPr/>
        </p:nvSpPr>
        <p:spPr>
          <a:xfrm>
            <a:off x="6529100" y="1367182"/>
            <a:ext cx="1844353" cy="3497580"/>
          </a:xfrm>
          <a:prstGeom prst="rect">
            <a:avLst/>
          </a:prstGeom>
          <a:solidFill>
            <a:srgbClr val="0D1B2A">
              <a:alpha val="60000"/>
            </a:srgbClr>
          </a:solidFill>
          <a:ln w="19050" cmpd="sng">
            <a:solidFill>
              <a:srgbClr val="1B3A5C"/>
            </a:solidFill>
            <a:prstDash val="dash"/>
          </a:ln>
        </p:spPr>
        <p:txBody>
          <a:bodyPr wrap="square" lIns="91440" tIns="91440" rIns="91440" bIns="91440" anchor="ctr"/>
          <a:lstStyle/>
          <a:p>
            <a:pPr algn="ctr">
              <a:buNone/>
            </a:pPr>
            <a:r>
              <a:rPr lang="en-US" sz="1200">
                <a:solidFill>
                  <a:srgbClr val="4A6A8A"/>
                </a:solidFill>
                <a:latin typeface="Arial" pitchFamily="34" charset="0"/>
              </a:rPr>
              <a:t>Add Your Image Here</a:t>
            </a:r>
          </a:p>
        </p:txBody>
      </p:sp>
      <p:pic>
        <p:nvPicPr>
          <p:cNvPr id="16" name="Picture 15">
            <a:extLst>
              <a:ext uri="{FF2B5EF4-FFF2-40B4-BE49-F238E27FC236}">
                <a16:creationId xmlns:a16="http://schemas.microsoft.com/office/drawing/2014/main" id="{975EF9D1-3D71-7C84-17AE-BBA03BABCEE4}"/>
              </a:ext>
            </a:extLst>
          </p:cNvPr>
          <p:cNvPicPr>
            <a:picLocks noChangeAspect="1"/>
          </p:cNvPicPr>
          <p:nvPr/>
        </p:nvPicPr>
        <p:blipFill>
          <a:blip r:embed="rId6"/>
          <a:srcRect t="3297" b="1538"/>
          <a:stretch>
            <a:fillRect/>
          </a:stretch>
        </p:blipFill>
        <p:spPr>
          <a:xfrm>
            <a:off x="6515748" y="1367182"/>
            <a:ext cx="1844352" cy="35357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50000"/>
            </a:srgbClr>
          </a:solidFill>
          <a:ln/>
        </p:spPr>
        <p:txBody>
          <a:bodyPr/>
          <a:lstStyle/>
          <a:p>
            <a:endParaRPr lang="en-IN"/>
          </a:p>
        </p:txBody>
      </p:sp>
      <p:sp>
        <p:nvSpPr>
          <p:cNvPr id="3" name="Text 1"/>
          <p:cNvSpPr/>
          <p:nvPr/>
        </p:nvSpPr>
        <p:spPr>
          <a:xfrm>
            <a:off x="731520" y="320040"/>
            <a:ext cx="4572000" cy="365760"/>
          </a:xfrm>
          <a:prstGeom prst="rect">
            <a:avLst/>
          </a:prstGeom>
          <a:noFill/>
          <a:ln/>
        </p:spPr>
        <p:txBody>
          <a:bodyPr wrap="square" lIns="0" tIns="0" rIns="0" bIns="0" rtlCol="0" anchor="ctr"/>
          <a:lstStyle/>
          <a:p>
            <a:pPr marL="0" indent="0">
              <a:buNone/>
            </a:pPr>
            <a:r>
              <a:rPr lang="en-US" sz="1200" b="1" kern="0" spc="400" dirty="0">
                <a:solidFill>
                  <a:srgbClr val="00D9FF"/>
                </a:solidFill>
                <a:latin typeface="Arial" pitchFamily="34" charset="0"/>
                <a:ea typeface="Arial" pitchFamily="34" charset="-122"/>
                <a:cs typeface="Arial" pitchFamily="34" charset="-120"/>
              </a:rPr>
              <a:t>FUTURE ROADMAP</a:t>
            </a:r>
            <a:endParaRPr lang="en-US" sz="12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marL="0" indent="0" algn="l">
              <a:buNone/>
            </a:pPr>
            <a:r>
              <a:rPr lang="en-US" sz="3000" b="1" dirty="0">
                <a:solidFill>
                  <a:srgbClr val="EAF6FF"/>
                </a:solidFill>
                <a:latin typeface="Arial Black" pitchFamily="34" charset="0"/>
                <a:ea typeface="Arial Black" pitchFamily="34" charset="-122"/>
                <a:cs typeface="Arial Black" pitchFamily="34" charset="-120"/>
              </a:rPr>
              <a:t>The AI-Powered Evolution</a:t>
            </a:r>
            <a:endParaRPr lang="en-US" sz="3000" dirty="0"/>
          </a:p>
        </p:txBody>
      </p:sp>
      <p:sp>
        <p:nvSpPr>
          <p:cNvPr id="5" name="Shape 3"/>
          <p:cNvSpPr/>
          <p:nvPr/>
        </p:nvSpPr>
        <p:spPr>
          <a:xfrm>
            <a:off x="457200" y="1463040"/>
            <a:ext cx="3931920" cy="1463040"/>
          </a:xfrm>
          <a:prstGeom prst="rect">
            <a:avLst/>
          </a:prstGeom>
          <a:solidFill>
            <a:srgbClr val="0D1B2A">
              <a:alpha val="75000"/>
            </a:srgbClr>
          </a:solidFill>
          <a:ln w="12700">
            <a:solidFill>
              <a:srgbClr val="1B3A5C"/>
            </a:solidFill>
            <a:prstDash val="solid"/>
          </a:ln>
        </p:spPr>
        <p:txBody>
          <a:bodyPr/>
          <a:lstStyle/>
          <a:p>
            <a:endParaRPr lang="en-IN"/>
          </a:p>
        </p:txBody>
      </p:sp>
      <p:sp>
        <p:nvSpPr>
          <p:cNvPr id="6" name="Shape 4"/>
          <p:cNvSpPr/>
          <p:nvPr/>
        </p:nvSpPr>
        <p:spPr>
          <a:xfrm>
            <a:off x="3017520" y="1572768"/>
            <a:ext cx="1097280" cy="256032"/>
          </a:xfrm>
          <a:prstGeom prst="rect">
            <a:avLst/>
          </a:prstGeom>
          <a:solidFill>
            <a:srgbClr val="00D9FF">
              <a:alpha val="25000"/>
            </a:srgbClr>
          </a:solidFill>
          <a:ln/>
        </p:spPr>
        <p:txBody>
          <a:bodyPr/>
          <a:lstStyle/>
          <a:p>
            <a:endParaRPr lang="en-IN"/>
          </a:p>
        </p:txBody>
      </p:sp>
      <p:sp>
        <p:nvSpPr>
          <p:cNvPr id="7" name="Text 5"/>
          <p:cNvSpPr/>
          <p:nvPr/>
        </p:nvSpPr>
        <p:spPr>
          <a:xfrm>
            <a:off x="3017520" y="1572768"/>
            <a:ext cx="1097280" cy="256032"/>
          </a:xfrm>
          <a:prstGeom prst="rect">
            <a:avLst/>
          </a:prstGeom>
          <a:noFill/>
          <a:ln/>
        </p:spPr>
        <p:txBody>
          <a:bodyPr wrap="square" lIns="0" tIns="0" rIns="0" bIns="0" rtlCol="0" anchor="ctr"/>
          <a:lstStyle/>
          <a:p>
            <a:pPr marL="0" indent="0" algn="ctr">
              <a:buNone/>
            </a:pPr>
            <a:r>
              <a:rPr lang="en-US" sz="800" b="1" dirty="0">
                <a:solidFill>
                  <a:srgbClr val="00D9FF"/>
                </a:solidFill>
                <a:latin typeface="Arial" pitchFamily="34" charset="0"/>
                <a:ea typeface="Arial" pitchFamily="34" charset="-122"/>
                <a:cs typeface="Arial" pitchFamily="34" charset="-120"/>
              </a:rPr>
              <a:t>PHASE 1</a:t>
            </a:r>
            <a:endParaRPr lang="en-US" sz="800" dirty="0"/>
          </a:p>
        </p:txBody>
      </p:sp>
      <p:pic>
        <p:nvPicPr>
          <p:cNvPr id="8" name="Image 0" descr="preencoded.png"/>
          <p:cNvPicPr>
            <a:picLocks noChangeAspect="1"/>
          </p:cNvPicPr>
          <p:nvPr/>
        </p:nvPicPr>
        <p:blipFill>
          <a:blip r:embed="rId4"/>
          <a:stretch>
            <a:fillRect/>
          </a:stretch>
        </p:blipFill>
        <p:spPr>
          <a:xfrm>
            <a:off x="685800" y="1645920"/>
            <a:ext cx="320040" cy="320040"/>
          </a:xfrm>
          <a:prstGeom prst="rect">
            <a:avLst/>
          </a:prstGeom>
        </p:spPr>
      </p:pic>
      <p:sp>
        <p:nvSpPr>
          <p:cNvPr id="9" name="Text 6"/>
          <p:cNvSpPr/>
          <p:nvPr/>
        </p:nvSpPr>
        <p:spPr>
          <a:xfrm>
            <a:off x="1143000" y="1600200"/>
            <a:ext cx="1828800" cy="36576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ea typeface="Arial" pitchFamily="34" charset="-122"/>
                <a:cs typeface="Arial" pitchFamily="34" charset="-120"/>
              </a:rPr>
              <a:t>TinyML Apnea Prediction</a:t>
            </a:r>
            <a:endParaRPr lang="en-US" sz="1400" dirty="0"/>
          </a:p>
        </p:txBody>
      </p:sp>
      <p:sp>
        <p:nvSpPr>
          <p:cNvPr id="10" name="Text 7"/>
          <p:cNvSpPr/>
          <p:nvPr/>
        </p:nvSpPr>
        <p:spPr>
          <a:xfrm>
            <a:off x="685800" y="2057400"/>
            <a:ext cx="3474720" cy="731520"/>
          </a:xfrm>
          <a:prstGeom prst="rect">
            <a:avLst/>
          </a:prstGeom>
          <a:noFill/>
          <a:ln/>
        </p:spPr>
        <p:txBody>
          <a:bodyPr wrap="square" lIns="0" tIns="0" rIns="0" bIns="0" rtlCol="0" anchor="ctr"/>
          <a:lstStyle/>
          <a:p>
            <a:pPr marL="0" indent="0">
              <a:buNone/>
            </a:pPr>
            <a:r>
              <a:rPr lang="en-US" sz="1100" dirty="0">
                <a:solidFill>
                  <a:srgbClr val="C8DAEF"/>
                </a:solidFill>
                <a:latin typeface="Arial" pitchFamily="34" charset="0"/>
                <a:ea typeface="Arial" pitchFamily="34" charset="-122"/>
                <a:cs typeface="Arial" pitchFamily="34" charset="-120"/>
              </a:rPr>
              <a:t>On-device ML </a:t>
            </a:r>
            <a:r>
              <a:rPr lang="en-US" sz="1100">
                <a:solidFill>
                  <a:srgbClr val="C8DAEF"/>
                </a:solidFill>
                <a:latin typeface="Arial" pitchFamily="34" charset="0"/>
                <a:ea typeface="Arial" pitchFamily="34" charset="-122"/>
                <a:cs typeface="Arial" pitchFamily="34" charset="-120"/>
              </a:rPr>
              <a:t>for pre-critical </a:t>
            </a:r>
            <a:r>
              <a:rPr lang="en-US" sz="1100" dirty="0">
                <a:solidFill>
                  <a:srgbClr val="C8DAEF"/>
                </a:solidFill>
                <a:latin typeface="Arial" pitchFamily="34" charset="0"/>
                <a:ea typeface="Arial" pitchFamily="34" charset="-122"/>
                <a:cs typeface="Arial" pitchFamily="34" charset="-120"/>
              </a:rPr>
              <a:t>apnea </a:t>
            </a:r>
            <a:r>
              <a:rPr lang="en-US" sz="1100">
                <a:solidFill>
                  <a:srgbClr val="C8DAEF"/>
                </a:solidFill>
                <a:latin typeface="Arial" pitchFamily="34" charset="0"/>
                <a:ea typeface="Arial" pitchFamily="34" charset="-122"/>
                <a:cs typeface="Arial" pitchFamily="34" charset="-120"/>
              </a:rPr>
              <a:t>detection with </a:t>
            </a:r>
            <a:r>
              <a:rPr lang="en-US" sz="1100" dirty="0">
                <a:solidFill>
                  <a:srgbClr val="C8DAEF"/>
                </a:solidFill>
                <a:latin typeface="Arial" pitchFamily="34" charset="0"/>
                <a:ea typeface="Arial" pitchFamily="34" charset="-122"/>
                <a:cs typeface="Arial" pitchFamily="34" charset="-120"/>
              </a:rPr>
              <a:t>sub-100ms inference</a:t>
            </a:r>
            <a:endParaRPr lang="en-US" sz="1100" dirty="0"/>
          </a:p>
        </p:txBody>
      </p:sp>
      <p:sp>
        <p:nvSpPr>
          <p:cNvPr id="11" name="Shape 8"/>
          <p:cNvSpPr/>
          <p:nvPr/>
        </p:nvSpPr>
        <p:spPr>
          <a:xfrm>
            <a:off x="4754880" y="1463040"/>
            <a:ext cx="3931920" cy="1463040"/>
          </a:xfrm>
          <a:prstGeom prst="rect">
            <a:avLst/>
          </a:prstGeom>
          <a:solidFill>
            <a:srgbClr val="0D1B2A">
              <a:alpha val="75000"/>
            </a:srgbClr>
          </a:solidFill>
          <a:ln w="12700">
            <a:solidFill>
              <a:srgbClr val="1B3A5C"/>
            </a:solidFill>
            <a:prstDash val="solid"/>
          </a:ln>
        </p:spPr>
        <p:txBody>
          <a:bodyPr/>
          <a:lstStyle/>
          <a:p>
            <a:endParaRPr lang="en-IN"/>
          </a:p>
        </p:txBody>
      </p:sp>
      <p:sp>
        <p:nvSpPr>
          <p:cNvPr id="12" name="Shape 9"/>
          <p:cNvSpPr/>
          <p:nvPr/>
        </p:nvSpPr>
        <p:spPr>
          <a:xfrm>
            <a:off x="7315200" y="1572768"/>
            <a:ext cx="1097280" cy="256032"/>
          </a:xfrm>
          <a:prstGeom prst="rect">
            <a:avLst/>
          </a:prstGeom>
          <a:solidFill>
            <a:srgbClr val="00D9FF">
              <a:alpha val="25000"/>
            </a:srgbClr>
          </a:solidFill>
          <a:ln/>
        </p:spPr>
        <p:txBody>
          <a:bodyPr/>
          <a:lstStyle/>
          <a:p>
            <a:endParaRPr lang="en-IN"/>
          </a:p>
        </p:txBody>
      </p:sp>
      <p:sp>
        <p:nvSpPr>
          <p:cNvPr id="13" name="Text 10"/>
          <p:cNvSpPr/>
          <p:nvPr/>
        </p:nvSpPr>
        <p:spPr>
          <a:xfrm>
            <a:off x="7315200" y="1572768"/>
            <a:ext cx="1097280" cy="256032"/>
          </a:xfrm>
          <a:prstGeom prst="rect">
            <a:avLst/>
          </a:prstGeom>
          <a:noFill/>
          <a:ln/>
        </p:spPr>
        <p:txBody>
          <a:bodyPr wrap="square" lIns="0" tIns="0" rIns="0" bIns="0" rtlCol="0" anchor="ctr"/>
          <a:lstStyle/>
          <a:p>
            <a:pPr marL="0" indent="0" algn="ctr">
              <a:buNone/>
            </a:pPr>
            <a:r>
              <a:rPr lang="en-US" sz="800" b="1" dirty="0">
                <a:solidFill>
                  <a:srgbClr val="00D9FF"/>
                </a:solidFill>
                <a:latin typeface="Arial" pitchFamily="34" charset="0"/>
                <a:ea typeface="Arial" pitchFamily="34" charset="-122"/>
                <a:cs typeface="Arial" pitchFamily="34" charset="-120"/>
              </a:rPr>
              <a:t>PHASE 2</a:t>
            </a:r>
            <a:endParaRPr lang="en-US" sz="800" dirty="0"/>
          </a:p>
        </p:txBody>
      </p:sp>
      <p:pic>
        <p:nvPicPr>
          <p:cNvPr id="14" name="Image 1" descr="preencoded.png"/>
          <p:cNvPicPr>
            <a:picLocks noChangeAspect="1"/>
          </p:cNvPicPr>
          <p:nvPr/>
        </p:nvPicPr>
        <p:blipFill>
          <a:blip r:embed="rId5"/>
          <a:stretch>
            <a:fillRect/>
          </a:stretch>
        </p:blipFill>
        <p:spPr>
          <a:xfrm>
            <a:off x="4983480" y="1645920"/>
            <a:ext cx="320040" cy="320040"/>
          </a:xfrm>
          <a:prstGeom prst="rect">
            <a:avLst/>
          </a:prstGeom>
        </p:spPr>
      </p:pic>
      <p:sp>
        <p:nvSpPr>
          <p:cNvPr id="15" name="Text 11"/>
          <p:cNvSpPr/>
          <p:nvPr/>
        </p:nvSpPr>
        <p:spPr>
          <a:xfrm>
            <a:off x="5440680" y="1600200"/>
            <a:ext cx="1828800" cy="36576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ea typeface="Arial" pitchFamily="34" charset="-122"/>
                <a:cs typeface="Arial" pitchFamily="34" charset="-120"/>
              </a:rPr>
              <a:t>Federated Ward Intelligence</a:t>
            </a:r>
            <a:endParaRPr lang="en-US" sz="1400" dirty="0"/>
          </a:p>
        </p:txBody>
      </p:sp>
      <p:sp>
        <p:nvSpPr>
          <p:cNvPr id="16" name="Text 12"/>
          <p:cNvSpPr/>
          <p:nvPr/>
        </p:nvSpPr>
        <p:spPr>
          <a:xfrm>
            <a:off x="4983480" y="2057400"/>
            <a:ext cx="3474720" cy="731520"/>
          </a:xfrm>
          <a:prstGeom prst="rect">
            <a:avLst/>
          </a:prstGeom>
          <a:noFill/>
          <a:ln/>
        </p:spPr>
        <p:txBody>
          <a:bodyPr wrap="square" lIns="0" tIns="0" rIns="0" bIns="0" rtlCol="0" anchor="ctr"/>
          <a:lstStyle/>
          <a:p>
            <a:pPr marL="0" indent="0">
              <a:buNone/>
            </a:pPr>
            <a:r>
              <a:rPr lang="en-US" sz="1100">
                <a:solidFill>
                  <a:srgbClr val="C8DAEF"/>
                </a:solidFill>
                <a:latin typeface="Arial" pitchFamily="34" charset="0"/>
                <a:ea typeface="Arial" pitchFamily="34" charset="-122"/>
                <a:cs typeface="Arial" pitchFamily="34" charset="-120"/>
              </a:rPr>
              <a:t>Multi-unit </a:t>
            </a:r>
            <a:r>
              <a:rPr lang="en-US" sz="1100" dirty="0">
                <a:solidFill>
                  <a:srgbClr val="C8DAEF"/>
                </a:solidFill>
                <a:latin typeface="Arial" pitchFamily="34" charset="0"/>
                <a:ea typeface="Arial" pitchFamily="34" charset="-122"/>
                <a:cs typeface="Arial" pitchFamily="34" charset="-120"/>
              </a:rPr>
              <a:t>anonymized learning across </a:t>
            </a:r>
            <a:r>
              <a:rPr lang="en-US" sz="1100">
                <a:solidFill>
                  <a:srgbClr val="C8DAEF"/>
                </a:solidFill>
                <a:latin typeface="Arial" pitchFamily="34" charset="0"/>
                <a:ea typeface="Arial" pitchFamily="34" charset="-122"/>
                <a:cs typeface="Arial" pitchFamily="34" charset="-120"/>
              </a:rPr>
              <a:t>wards </a:t>
            </a:r>
            <a:r>
              <a:rPr lang="en-US" sz="1100" dirty="0">
                <a:solidFill>
                  <a:srgbClr val="C8DAEF"/>
                </a:solidFill>
                <a:latin typeface="Arial" pitchFamily="34" charset="0"/>
                <a:ea typeface="Arial" pitchFamily="34" charset="-122"/>
                <a:cs typeface="Arial" pitchFamily="34" charset="-120"/>
              </a:rPr>
              <a:t>without centralizing data</a:t>
            </a:r>
            <a:endParaRPr lang="en-US" sz="1100" dirty="0"/>
          </a:p>
        </p:txBody>
      </p:sp>
      <p:sp>
        <p:nvSpPr>
          <p:cNvPr id="17" name="Shape 13"/>
          <p:cNvSpPr/>
          <p:nvPr/>
        </p:nvSpPr>
        <p:spPr>
          <a:xfrm>
            <a:off x="457200" y="3154680"/>
            <a:ext cx="3931920" cy="1463040"/>
          </a:xfrm>
          <a:prstGeom prst="rect">
            <a:avLst/>
          </a:prstGeom>
          <a:solidFill>
            <a:srgbClr val="0D1B2A">
              <a:alpha val="75000"/>
            </a:srgbClr>
          </a:solidFill>
          <a:ln w="12700">
            <a:solidFill>
              <a:srgbClr val="1B3A5C"/>
            </a:solidFill>
            <a:prstDash val="solid"/>
          </a:ln>
        </p:spPr>
        <p:txBody>
          <a:bodyPr/>
          <a:lstStyle/>
          <a:p>
            <a:endParaRPr lang="en-IN"/>
          </a:p>
        </p:txBody>
      </p:sp>
      <p:sp>
        <p:nvSpPr>
          <p:cNvPr id="18" name="Shape 14"/>
          <p:cNvSpPr/>
          <p:nvPr/>
        </p:nvSpPr>
        <p:spPr>
          <a:xfrm>
            <a:off x="3017520" y="3264408"/>
            <a:ext cx="1097280" cy="256032"/>
          </a:xfrm>
          <a:prstGeom prst="rect">
            <a:avLst/>
          </a:prstGeom>
          <a:solidFill>
            <a:srgbClr val="00D9FF">
              <a:alpha val="25000"/>
            </a:srgbClr>
          </a:solidFill>
          <a:ln/>
        </p:spPr>
        <p:txBody>
          <a:bodyPr/>
          <a:lstStyle/>
          <a:p>
            <a:endParaRPr lang="en-IN"/>
          </a:p>
        </p:txBody>
      </p:sp>
      <p:sp>
        <p:nvSpPr>
          <p:cNvPr id="19" name="Text 15"/>
          <p:cNvSpPr/>
          <p:nvPr/>
        </p:nvSpPr>
        <p:spPr>
          <a:xfrm>
            <a:off x="3017520" y="3264408"/>
            <a:ext cx="1097280" cy="256032"/>
          </a:xfrm>
          <a:prstGeom prst="rect">
            <a:avLst/>
          </a:prstGeom>
          <a:noFill/>
          <a:ln/>
        </p:spPr>
        <p:txBody>
          <a:bodyPr wrap="square" lIns="0" tIns="0" rIns="0" bIns="0" rtlCol="0" anchor="ctr"/>
          <a:lstStyle/>
          <a:p>
            <a:pPr marL="0" indent="0" algn="ctr">
              <a:buNone/>
            </a:pPr>
            <a:r>
              <a:rPr lang="en-US" sz="800" b="1" dirty="0">
                <a:solidFill>
                  <a:srgbClr val="00D9FF"/>
                </a:solidFill>
                <a:latin typeface="Arial" pitchFamily="34" charset="0"/>
                <a:ea typeface="Arial" pitchFamily="34" charset="-122"/>
                <a:cs typeface="Arial" pitchFamily="34" charset="-120"/>
              </a:rPr>
              <a:t>PHASE 3</a:t>
            </a:r>
            <a:endParaRPr lang="en-US" sz="800" dirty="0"/>
          </a:p>
        </p:txBody>
      </p:sp>
      <p:pic>
        <p:nvPicPr>
          <p:cNvPr id="20" name="Image 2" descr="preencoded.png"/>
          <p:cNvPicPr>
            <a:picLocks noChangeAspect="1"/>
          </p:cNvPicPr>
          <p:nvPr/>
        </p:nvPicPr>
        <p:blipFill>
          <a:blip r:embed="rId6"/>
          <a:stretch>
            <a:fillRect/>
          </a:stretch>
        </p:blipFill>
        <p:spPr>
          <a:xfrm>
            <a:off x="685800" y="3337560"/>
            <a:ext cx="320040" cy="320040"/>
          </a:xfrm>
          <a:prstGeom prst="rect">
            <a:avLst/>
          </a:prstGeom>
        </p:spPr>
      </p:pic>
      <p:sp>
        <p:nvSpPr>
          <p:cNvPr id="21" name="Text 16"/>
          <p:cNvSpPr/>
          <p:nvPr/>
        </p:nvSpPr>
        <p:spPr>
          <a:xfrm>
            <a:off x="1143000" y="3291840"/>
            <a:ext cx="1828800" cy="36576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ea typeface="Arial" pitchFamily="34" charset="-122"/>
                <a:cs typeface="Arial" pitchFamily="34" charset="-120"/>
              </a:rPr>
              <a:t>ESP32-CAM Vision</a:t>
            </a:r>
            <a:endParaRPr lang="en-US" sz="1400" dirty="0"/>
          </a:p>
        </p:txBody>
      </p:sp>
      <p:sp>
        <p:nvSpPr>
          <p:cNvPr id="22" name="Text 17"/>
          <p:cNvSpPr/>
          <p:nvPr/>
        </p:nvSpPr>
        <p:spPr>
          <a:xfrm>
            <a:off x="685800" y="3749040"/>
            <a:ext cx="3474720" cy="731520"/>
          </a:xfrm>
          <a:prstGeom prst="rect">
            <a:avLst/>
          </a:prstGeom>
          <a:noFill/>
          <a:ln/>
        </p:spPr>
        <p:txBody>
          <a:bodyPr wrap="square" lIns="0" tIns="0" rIns="0" bIns="0" rtlCol="0" anchor="ctr"/>
          <a:lstStyle/>
          <a:p>
            <a:pPr marL="0" indent="0">
              <a:buNone/>
            </a:pPr>
            <a:r>
              <a:rPr lang="en-US" sz="1100" dirty="0">
                <a:solidFill>
                  <a:srgbClr val="C8DAEF"/>
                </a:solidFill>
                <a:latin typeface="Arial" pitchFamily="34" charset="0"/>
                <a:ea typeface="Arial" pitchFamily="34" charset="-122"/>
                <a:cs typeface="Arial" pitchFamily="34" charset="-120"/>
              </a:rPr>
              <a:t>Computer vision for movement tracking, skin </a:t>
            </a:r>
            <a:r>
              <a:rPr lang="en-US" sz="1100" dirty="0" err="1">
                <a:solidFill>
                  <a:srgbClr val="C8DAEF"/>
                </a:solidFill>
                <a:latin typeface="Arial" pitchFamily="34" charset="0"/>
                <a:ea typeface="Arial" pitchFamily="34" charset="-122"/>
                <a:cs typeface="Arial" pitchFamily="34" charset="-120"/>
              </a:rPr>
              <a:t>colour</a:t>
            </a:r>
            <a:r>
              <a:rPr lang="en-US" sz="1100" dirty="0">
                <a:solidFill>
                  <a:srgbClr val="C8DAEF"/>
                </a:solidFill>
                <a:latin typeface="Arial" pitchFamily="34" charset="0"/>
                <a:ea typeface="Arial" pitchFamily="34" charset="-122"/>
                <a:cs typeface="Arial" pitchFamily="34" charset="-120"/>
              </a:rPr>
              <a:t> analysis, and position detection — all edge-processed</a:t>
            </a:r>
            <a:endParaRPr lang="en-US" sz="1100" dirty="0"/>
          </a:p>
        </p:txBody>
      </p:sp>
      <p:sp>
        <p:nvSpPr>
          <p:cNvPr id="23" name="Shape 18"/>
          <p:cNvSpPr/>
          <p:nvPr/>
        </p:nvSpPr>
        <p:spPr>
          <a:xfrm>
            <a:off x="4754880" y="3154680"/>
            <a:ext cx="3931920" cy="1463040"/>
          </a:xfrm>
          <a:prstGeom prst="rect">
            <a:avLst/>
          </a:prstGeom>
          <a:solidFill>
            <a:srgbClr val="0D1B2A">
              <a:alpha val="75000"/>
            </a:srgbClr>
          </a:solidFill>
          <a:ln w="12700">
            <a:solidFill>
              <a:srgbClr val="1B3A5C"/>
            </a:solidFill>
            <a:prstDash val="solid"/>
          </a:ln>
        </p:spPr>
        <p:txBody>
          <a:bodyPr/>
          <a:lstStyle/>
          <a:p>
            <a:endParaRPr lang="en-IN"/>
          </a:p>
        </p:txBody>
      </p:sp>
      <p:sp>
        <p:nvSpPr>
          <p:cNvPr id="24" name="Shape 19"/>
          <p:cNvSpPr/>
          <p:nvPr/>
        </p:nvSpPr>
        <p:spPr>
          <a:xfrm>
            <a:off x="7315200" y="3264408"/>
            <a:ext cx="1097280" cy="256032"/>
          </a:xfrm>
          <a:prstGeom prst="rect">
            <a:avLst/>
          </a:prstGeom>
          <a:solidFill>
            <a:srgbClr val="00D9FF">
              <a:alpha val="25000"/>
            </a:srgbClr>
          </a:solidFill>
          <a:ln/>
        </p:spPr>
        <p:txBody>
          <a:bodyPr/>
          <a:lstStyle/>
          <a:p>
            <a:endParaRPr lang="en-IN"/>
          </a:p>
        </p:txBody>
      </p:sp>
      <p:sp>
        <p:nvSpPr>
          <p:cNvPr id="25" name="Text 20"/>
          <p:cNvSpPr/>
          <p:nvPr/>
        </p:nvSpPr>
        <p:spPr>
          <a:xfrm>
            <a:off x="7315200" y="3264408"/>
            <a:ext cx="1097280" cy="256032"/>
          </a:xfrm>
          <a:prstGeom prst="rect">
            <a:avLst/>
          </a:prstGeom>
          <a:noFill/>
          <a:ln/>
        </p:spPr>
        <p:txBody>
          <a:bodyPr wrap="square" lIns="0" tIns="0" rIns="0" bIns="0" rtlCol="0" anchor="ctr"/>
          <a:lstStyle/>
          <a:p>
            <a:pPr marL="0" indent="0" algn="ctr">
              <a:buNone/>
            </a:pPr>
            <a:r>
              <a:rPr lang="en-US" sz="800" b="1" dirty="0">
                <a:solidFill>
                  <a:srgbClr val="00D9FF"/>
                </a:solidFill>
                <a:latin typeface="Arial" pitchFamily="34" charset="0"/>
                <a:ea typeface="Arial" pitchFamily="34" charset="-122"/>
                <a:cs typeface="Arial" pitchFamily="34" charset="-120"/>
              </a:rPr>
              <a:t>PHASE 4</a:t>
            </a:r>
            <a:endParaRPr lang="en-US" sz="800" dirty="0"/>
          </a:p>
        </p:txBody>
      </p:sp>
      <p:pic>
        <p:nvPicPr>
          <p:cNvPr id="26" name="Image 3" descr="preencoded.png"/>
          <p:cNvPicPr>
            <a:picLocks noChangeAspect="1"/>
          </p:cNvPicPr>
          <p:nvPr/>
        </p:nvPicPr>
        <p:blipFill>
          <a:blip r:embed="rId7"/>
          <a:stretch>
            <a:fillRect/>
          </a:stretch>
        </p:blipFill>
        <p:spPr>
          <a:xfrm>
            <a:off x="4983480" y="3337560"/>
            <a:ext cx="320040" cy="320040"/>
          </a:xfrm>
          <a:prstGeom prst="rect">
            <a:avLst/>
          </a:prstGeom>
        </p:spPr>
      </p:pic>
      <p:sp>
        <p:nvSpPr>
          <p:cNvPr id="27" name="Text 21"/>
          <p:cNvSpPr/>
          <p:nvPr/>
        </p:nvSpPr>
        <p:spPr>
          <a:xfrm>
            <a:off x="5440680" y="3291840"/>
            <a:ext cx="1828800" cy="36576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ea typeface="Arial" pitchFamily="34" charset="-122"/>
                <a:cs typeface="Arial" pitchFamily="34" charset="-120"/>
              </a:rPr>
              <a:t>Predictive Analytics</a:t>
            </a:r>
            <a:endParaRPr lang="en-US" sz="1400" dirty="0"/>
          </a:p>
        </p:txBody>
      </p:sp>
      <p:sp>
        <p:nvSpPr>
          <p:cNvPr id="28" name="Text 22"/>
          <p:cNvSpPr/>
          <p:nvPr/>
        </p:nvSpPr>
        <p:spPr>
          <a:xfrm>
            <a:off x="4983480" y="3749040"/>
            <a:ext cx="3474720" cy="731520"/>
          </a:xfrm>
          <a:prstGeom prst="rect">
            <a:avLst/>
          </a:prstGeom>
          <a:noFill/>
          <a:ln/>
        </p:spPr>
        <p:txBody>
          <a:bodyPr wrap="square" lIns="0" tIns="0" rIns="0" bIns="0" rtlCol="0" anchor="ctr"/>
          <a:lstStyle/>
          <a:p>
            <a:pPr marL="0" indent="0">
              <a:buNone/>
            </a:pPr>
            <a:r>
              <a:rPr lang="en-US" sz="1100">
                <a:solidFill>
                  <a:srgbClr val="C8DAEF"/>
                </a:solidFill>
                <a:latin typeface="Arial" pitchFamily="34" charset="0"/>
                <a:ea typeface="Arial" pitchFamily="34" charset="-122"/>
                <a:cs typeface="Arial" pitchFamily="34" charset="-120"/>
              </a:rPr>
              <a:t>Cross-facility </a:t>
            </a:r>
            <a:r>
              <a:rPr lang="en-US" sz="1100" dirty="0">
                <a:solidFill>
                  <a:srgbClr val="C8DAEF"/>
                </a:solidFill>
                <a:latin typeface="Arial" pitchFamily="34" charset="0"/>
                <a:ea typeface="Arial" pitchFamily="34" charset="-122"/>
                <a:cs typeface="Arial" pitchFamily="34" charset="-120"/>
              </a:rPr>
              <a:t>predictive neonatal risk scoring </a:t>
            </a:r>
            <a:r>
              <a:rPr lang="en-US" sz="1100">
                <a:solidFill>
                  <a:srgbClr val="C8DAEF"/>
                </a:solidFill>
                <a:latin typeface="Arial" pitchFamily="34" charset="0"/>
                <a:ea typeface="Arial" pitchFamily="34" charset="-122"/>
                <a:cs typeface="Arial" pitchFamily="34" charset="-120"/>
              </a:rPr>
              <a:t>via cloud analytics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55000"/>
            </a:srgbClr>
          </a:solidFill>
          <a:ln/>
        </p:spPr>
        <p:txBody>
          <a:bodyPr/>
          <a:lstStyle/>
          <a:p>
            <a:endParaRPr lang="en-IN"/>
          </a:p>
        </p:txBody>
      </p:sp>
      <p:sp>
        <p:nvSpPr>
          <p:cNvPr id="3" name="Text 1"/>
          <p:cNvSpPr/>
          <p:nvPr/>
        </p:nvSpPr>
        <p:spPr>
          <a:xfrm>
            <a:off x="731520" y="320040"/>
            <a:ext cx="4572000" cy="365760"/>
          </a:xfrm>
          <a:prstGeom prst="rect">
            <a:avLst/>
          </a:prstGeom>
          <a:noFill/>
          <a:ln/>
        </p:spPr>
        <p:txBody>
          <a:bodyPr wrap="square" lIns="0" tIns="0" rIns="0" bIns="0" rtlCol="0" anchor="ctr"/>
          <a:lstStyle/>
          <a:p>
            <a:pPr marL="0" indent="0">
              <a:buNone/>
            </a:pPr>
            <a:r>
              <a:rPr lang="en-US" sz="1200" b="1" kern="0" spc="400" dirty="0">
                <a:solidFill>
                  <a:srgbClr val="00D9FF"/>
                </a:solidFill>
                <a:latin typeface="Arial" pitchFamily="34" charset="0"/>
                <a:ea typeface="Arial" pitchFamily="34" charset="-122"/>
                <a:cs typeface="Arial" pitchFamily="34" charset="-120"/>
              </a:rPr>
              <a:t>IMPACT &amp; VISION</a:t>
            </a:r>
            <a:endParaRPr lang="en-US" sz="1200" dirty="0"/>
          </a:p>
        </p:txBody>
      </p:sp>
      <p:sp>
        <p:nvSpPr>
          <p:cNvPr id="4" name="Text 2"/>
          <p:cNvSpPr/>
          <p:nvPr/>
        </p:nvSpPr>
        <p:spPr>
          <a:xfrm>
            <a:off x="731520" y="685800"/>
            <a:ext cx="7315200" cy="548640"/>
          </a:xfrm>
          <a:prstGeom prst="rect">
            <a:avLst/>
          </a:prstGeom>
          <a:noFill/>
          <a:ln/>
        </p:spPr>
        <p:txBody>
          <a:bodyPr wrap="square" lIns="0" tIns="0" rIns="0" bIns="0" rtlCol="0" anchor="ctr"/>
          <a:lstStyle/>
          <a:p>
            <a:pPr marL="0" indent="0" algn="l">
              <a:buNone/>
            </a:pPr>
            <a:r>
              <a:rPr lang="en-US" sz="3200" b="1" dirty="0">
                <a:solidFill>
                  <a:srgbClr val="EAF6FF"/>
                </a:solidFill>
                <a:latin typeface="Arial Black" pitchFamily="34" charset="0"/>
                <a:ea typeface="Arial Black" pitchFamily="34" charset="-122"/>
                <a:cs typeface="Arial Black" pitchFamily="34" charset="-120"/>
              </a:rPr>
              <a:t>Saving Lives at Scale</a:t>
            </a:r>
            <a:endParaRPr lang="en-US" sz="3200" dirty="0"/>
          </a:p>
        </p:txBody>
      </p:sp>
      <p:sp>
        <p:nvSpPr>
          <p:cNvPr id="5" name="Shape 3"/>
          <p:cNvSpPr/>
          <p:nvPr/>
        </p:nvSpPr>
        <p:spPr>
          <a:xfrm>
            <a:off x="457200" y="1508760"/>
            <a:ext cx="2651760" cy="3291840"/>
          </a:xfrm>
          <a:prstGeom prst="rect">
            <a:avLst/>
          </a:prstGeom>
          <a:solidFill>
            <a:srgbClr val="0D1B2A">
              <a:alpha val="70000"/>
            </a:srgbClr>
          </a:solidFill>
          <a:ln w="12700">
            <a:solidFill>
              <a:srgbClr val="1B3A5C"/>
            </a:solidFill>
            <a:prstDash val="solid"/>
          </a:ln>
        </p:spPr>
        <p:txBody>
          <a:bodyPr/>
          <a:lstStyle/>
          <a:p>
            <a:endParaRPr lang="en-IN"/>
          </a:p>
        </p:txBody>
      </p:sp>
      <p:pic>
        <p:nvPicPr>
          <p:cNvPr id="6" name="Image 0" descr="preencoded.png"/>
          <p:cNvPicPr>
            <a:picLocks noChangeAspect="1"/>
          </p:cNvPicPr>
          <p:nvPr/>
        </p:nvPicPr>
        <p:blipFill>
          <a:blip r:embed="rId4"/>
          <a:stretch>
            <a:fillRect/>
          </a:stretch>
        </p:blipFill>
        <p:spPr>
          <a:xfrm>
            <a:off x="731520" y="1691640"/>
            <a:ext cx="365760" cy="365760"/>
          </a:xfrm>
          <a:prstGeom prst="rect">
            <a:avLst/>
          </a:prstGeom>
        </p:spPr>
      </p:pic>
      <p:sp>
        <p:nvSpPr>
          <p:cNvPr id="7" name="Text 4"/>
          <p:cNvSpPr/>
          <p:nvPr/>
        </p:nvSpPr>
        <p:spPr>
          <a:xfrm>
            <a:off x="731520" y="2148840"/>
            <a:ext cx="2103120" cy="32004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ea typeface="Arial" pitchFamily="34" charset="-122"/>
                <a:cs typeface="Arial" pitchFamily="34" charset="-120"/>
              </a:rPr>
              <a:t>Rural Healthcare</a:t>
            </a:r>
            <a:endParaRPr lang="en-US" sz="1400" dirty="0"/>
          </a:p>
        </p:txBody>
      </p:sp>
      <p:sp>
        <p:nvSpPr>
          <p:cNvPr id="8" name="Text 5"/>
          <p:cNvSpPr/>
          <p:nvPr/>
        </p:nvSpPr>
        <p:spPr>
          <a:xfrm>
            <a:off x="731520" y="2514600"/>
            <a:ext cx="2103120" cy="914400"/>
          </a:xfrm>
          <a:prstGeom prst="rect">
            <a:avLst/>
          </a:prstGeom>
          <a:noFill/>
          <a:ln/>
        </p:spPr>
        <p:txBody>
          <a:bodyPr wrap="square" lIns="0" tIns="0" rIns="0" bIns="0" rtlCol="0" anchor="ctr"/>
          <a:lstStyle/>
          <a:p>
            <a:pPr marL="0" indent="0">
              <a:buNone/>
            </a:pPr>
            <a:r>
              <a:rPr lang="en-US" sz="1100" dirty="0">
                <a:solidFill>
                  <a:srgbClr val="C8DAEF"/>
                </a:solidFill>
                <a:latin typeface="Arial" pitchFamily="34" charset="0"/>
                <a:ea typeface="Arial" pitchFamily="34" charset="-122"/>
                <a:cs typeface="Arial" pitchFamily="34" charset="-120"/>
              </a:rPr>
              <a:t>NICU-grade monitoring </a:t>
            </a:r>
            <a:r>
              <a:rPr lang="en-US" sz="1100">
                <a:solidFill>
                  <a:srgbClr val="C8DAEF"/>
                </a:solidFill>
                <a:latin typeface="Arial" pitchFamily="34" charset="0"/>
                <a:ea typeface="Arial" pitchFamily="34" charset="-122"/>
                <a:cs typeface="Arial" pitchFamily="34" charset="-120"/>
              </a:rPr>
              <a:t>for </a:t>
            </a:r>
            <a:r>
              <a:rPr lang="en-US" sz="1100" dirty="0">
                <a:solidFill>
                  <a:srgbClr val="C8DAEF"/>
                </a:solidFill>
                <a:latin typeface="Arial" pitchFamily="34" charset="0"/>
                <a:ea typeface="Arial" pitchFamily="34" charset="-122"/>
                <a:cs typeface="Arial" pitchFamily="34" charset="-120"/>
              </a:rPr>
              <a:t>primary health centers and underserved clinics</a:t>
            </a:r>
            <a:endParaRPr lang="en-US" sz="1100" dirty="0"/>
          </a:p>
        </p:txBody>
      </p:sp>
      <p:sp>
        <p:nvSpPr>
          <p:cNvPr id="9" name="Text 6"/>
          <p:cNvSpPr/>
          <p:nvPr/>
        </p:nvSpPr>
        <p:spPr>
          <a:xfrm>
            <a:off x="731520" y="3520440"/>
            <a:ext cx="2103120" cy="548640"/>
          </a:xfrm>
          <a:prstGeom prst="rect">
            <a:avLst/>
          </a:prstGeom>
          <a:noFill/>
          <a:ln/>
        </p:spPr>
        <p:txBody>
          <a:bodyPr wrap="square" lIns="0" tIns="0" rIns="0" bIns="0" rtlCol="0" anchor="ctr"/>
          <a:lstStyle/>
          <a:p>
            <a:pPr marL="0" indent="0">
              <a:buNone/>
            </a:pPr>
            <a:r>
              <a:rPr lang="en-US" sz="3200" b="1" dirty="0">
                <a:solidFill>
                  <a:srgbClr val="00D9FF"/>
                </a:solidFill>
                <a:latin typeface="Arial Black" pitchFamily="34" charset="0"/>
                <a:ea typeface="Arial Black" pitchFamily="34" charset="-122"/>
                <a:cs typeface="Arial Black" pitchFamily="34" charset="-120"/>
              </a:rPr>
              <a:t>68%</a:t>
            </a:r>
            <a:endParaRPr lang="en-US" sz="3200" dirty="0"/>
          </a:p>
        </p:txBody>
      </p:sp>
      <p:sp>
        <p:nvSpPr>
          <p:cNvPr id="10" name="Text 7"/>
          <p:cNvSpPr/>
          <p:nvPr/>
        </p:nvSpPr>
        <p:spPr>
          <a:xfrm>
            <a:off x="731520" y="4069080"/>
            <a:ext cx="2103120" cy="502920"/>
          </a:xfrm>
          <a:prstGeom prst="rect">
            <a:avLst/>
          </a:prstGeom>
          <a:noFill/>
          <a:ln/>
        </p:spPr>
        <p:txBody>
          <a:bodyPr wrap="square" lIns="0" tIns="0" rIns="0" bIns="0" rtlCol="0" anchor="ctr"/>
          <a:lstStyle/>
          <a:p>
            <a:pPr marL="0" indent="0">
              <a:buNone/>
            </a:pPr>
            <a:r>
              <a:rPr lang="en-US" sz="1000" dirty="0">
                <a:solidFill>
                  <a:srgbClr val="8BA4C4"/>
                </a:solidFill>
                <a:latin typeface="Arial" pitchFamily="34" charset="0"/>
                <a:ea typeface="Arial" pitchFamily="34" charset="-122"/>
                <a:cs typeface="Arial" pitchFamily="34" charset="-120"/>
              </a:rPr>
              <a:t>of births in rural areas lack NICU access</a:t>
            </a:r>
            <a:endParaRPr lang="en-US" sz="1000" dirty="0"/>
          </a:p>
        </p:txBody>
      </p:sp>
      <p:sp>
        <p:nvSpPr>
          <p:cNvPr id="11" name="Shape 8"/>
          <p:cNvSpPr/>
          <p:nvPr/>
        </p:nvSpPr>
        <p:spPr>
          <a:xfrm>
            <a:off x="3337560" y="1508760"/>
            <a:ext cx="2651760" cy="3291840"/>
          </a:xfrm>
          <a:prstGeom prst="rect">
            <a:avLst/>
          </a:prstGeom>
          <a:solidFill>
            <a:srgbClr val="0D1B2A">
              <a:alpha val="70000"/>
            </a:srgbClr>
          </a:solidFill>
          <a:ln w="12700">
            <a:solidFill>
              <a:srgbClr val="1B3A5C"/>
            </a:solidFill>
            <a:prstDash val="solid"/>
          </a:ln>
        </p:spPr>
        <p:txBody>
          <a:bodyPr/>
          <a:lstStyle/>
          <a:p>
            <a:endParaRPr lang="en-IN"/>
          </a:p>
        </p:txBody>
      </p:sp>
      <p:pic>
        <p:nvPicPr>
          <p:cNvPr id="12" name="Image 1" descr="preencoded.png"/>
          <p:cNvPicPr>
            <a:picLocks noChangeAspect="1"/>
          </p:cNvPicPr>
          <p:nvPr/>
        </p:nvPicPr>
        <p:blipFill>
          <a:blip r:embed="rId5"/>
          <a:stretch>
            <a:fillRect/>
          </a:stretch>
        </p:blipFill>
        <p:spPr>
          <a:xfrm>
            <a:off x="3611880" y="1691640"/>
            <a:ext cx="365760" cy="365760"/>
          </a:xfrm>
          <a:prstGeom prst="rect">
            <a:avLst/>
          </a:prstGeom>
        </p:spPr>
      </p:pic>
      <p:sp>
        <p:nvSpPr>
          <p:cNvPr id="13" name="Text 9"/>
          <p:cNvSpPr/>
          <p:nvPr/>
        </p:nvSpPr>
        <p:spPr>
          <a:xfrm>
            <a:off x="3611880" y="2148840"/>
            <a:ext cx="2103120" cy="32004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ea typeface="Arial" pitchFamily="34" charset="-122"/>
                <a:cs typeface="Arial" pitchFamily="34" charset="-120"/>
              </a:rPr>
              <a:t>Global Accessibility</a:t>
            </a:r>
            <a:endParaRPr lang="en-US" sz="1400" dirty="0"/>
          </a:p>
        </p:txBody>
      </p:sp>
      <p:sp>
        <p:nvSpPr>
          <p:cNvPr id="14" name="Text 10"/>
          <p:cNvSpPr/>
          <p:nvPr/>
        </p:nvSpPr>
        <p:spPr>
          <a:xfrm>
            <a:off x="3611880" y="2514600"/>
            <a:ext cx="2103120" cy="914400"/>
          </a:xfrm>
          <a:prstGeom prst="rect">
            <a:avLst/>
          </a:prstGeom>
          <a:noFill/>
          <a:ln/>
        </p:spPr>
        <p:txBody>
          <a:bodyPr wrap="square" lIns="0" tIns="0" rIns="0" bIns="0" rtlCol="0" anchor="ctr"/>
          <a:lstStyle/>
          <a:p>
            <a:pPr marL="0" indent="0">
              <a:buNone/>
            </a:pPr>
            <a:r>
              <a:rPr lang="en-US" sz="1100" dirty="0">
                <a:solidFill>
                  <a:srgbClr val="C8DAEF"/>
                </a:solidFill>
                <a:latin typeface="Arial" pitchFamily="34" charset="0"/>
                <a:ea typeface="Arial" pitchFamily="34" charset="-122"/>
                <a:cs typeface="Arial" pitchFamily="34" charset="-120"/>
              </a:rPr>
              <a:t>Open-source design </a:t>
            </a:r>
            <a:r>
              <a:rPr lang="en-US" sz="1100">
                <a:solidFill>
                  <a:srgbClr val="C8DAEF"/>
                </a:solidFill>
                <a:latin typeface="Arial" pitchFamily="34" charset="0"/>
                <a:ea typeface="Arial" pitchFamily="34" charset="-122"/>
                <a:cs typeface="Arial" pitchFamily="34" charset="-120"/>
              </a:rPr>
              <a:t>enabling </a:t>
            </a:r>
            <a:r>
              <a:rPr lang="en-US" sz="1100" dirty="0">
                <a:solidFill>
                  <a:srgbClr val="C8DAEF"/>
                </a:solidFill>
                <a:latin typeface="Arial" pitchFamily="34" charset="0"/>
                <a:ea typeface="Arial" pitchFamily="34" charset="-122"/>
                <a:cs typeface="Arial" pitchFamily="34" charset="-120"/>
              </a:rPr>
              <a:t>local manufacturing across developing nations</a:t>
            </a:r>
            <a:endParaRPr lang="en-US" sz="1100" dirty="0"/>
          </a:p>
        </p:txBody>
      </p:sp>
      <p:sp>
        <p:nvSpPr>
          <p:cNvPr id="15" name="Text 11"/>
          <p:cNvSpPr/>
          <p:nvPr/>
        </p:nvSpPr>
        <p:spPr>
          <a:xfrm>
            <a:off x="3611880" y="3520440"/>
            <a:ext cx="2103120" cy="548640"/>
          </a:xfrm>
          <a:prstGeom prst="rect">
            <a:avLst/>
          </a:prstGeom>
          <a:noFill/>
          <a:ln/>
        </p:spPr>
        <p:txBody>
          <a:bodyPr wrap="square" lIns="0" tIns="0" rIns="0" bIns="0" rtlCol="0" anchor="ctr"/>
          <a:lstStyle/>
          <a:p>
            <a:pPr marL="0" indent="0">
              <a:buNone/>
            </a:pPr>
            <a:r>
              <a:rPr lang="en-US" sz="3200" b="1" dirty="0">
                <a:solidFill>
                  <a:srgbClr val="00D9FF"/>
                </a:solidFill>
                <a:latin typeface="Arial Black" pitchFamily="34" charset="0"/>
                <a:ea typeface="Arial Black" pitchFamily="34" charset="-122"/>
                <a:cs typeface="Arial Black" pitchFamily="34" charset="-120"/>
              </a:rPr>
              <a:t>184</a:t>
            </a:r>
            <a:endParaRPr lang="en-US" sz="3200" dirty="0"/>
          </a:p>
        </p:txBody>
      </p:sp>
      <p:sp>
        <p:nvSpPr>
          <p:cNvPr id="16" name="Text 12"/>
          <p:cNvSpPr/>
          <p:nvPr/>
        </p:nvSpPr>
        <p:spPr>
          <a:xfrm>
            <a:off x="3611880" y="4069080"/>
            <a:ext cx="2103120" cy="502920"/>
          </a:xfrm>
          <a:prstGeom prst="rect">
            <a:avLst/>
          </a:prstGeom>
          <a:noFill/>
          <a:ln/>
        </p:spPr>
        <p:txBody>
          <a:bodyPr wrap="square" lIns="0" tIns="0" rIns="0" bIns="0" rtlCol="0" anchor="ctr"/>
          <a:lstStyle/>
          <a:p>
            <a:pPr marL="0" indent="0">
              <a:buNone/>
            </a:pPr>
            <a:r>
              <a:rPr lang="en-US" sz="1000" dirty="0">
                <a:solidFill>
                  <a:srgbClr val="8BA4C4"/>
                </a:solidFill>
                <a:latin typeface="Arial" pitchFamily="34" charset="0"/>
                <a:ea typeface="Arial" pitchFamily="34" charset="-122"/>
                <a:cs typeface="Arial" pitchFamily="34" charset="-120"/>
              </a:rPr>
              <a:t>countries with inadequate neonatal care</a:t>
            </a:r>
            <a:endParaRPr lang="en-US" sz="1000" dirty="0"/>
          </a:p>
        </p:txBody>
      </p:sp>
      <p:sp>
        <p:nvSpPr>
          <p:cNvPr id="17" name="Shape 13"/>
          <p:cNvSpPr/>
          <p:nvPr/>
        </p:nvSpPr>
        <p:spPr>
          <a:xfrm>
            <a:off x="6217920" y="1508760"/>
            <a:ext cx="2651760" cy="3291840"/>
          </a:xfrm>
          <a:prstGeom prst="rect">
            <a:avLst/>
          </a:prstGeom>
          <a:solidFill>
            <a:srgbClr val="0D1B2A">
              <a:alpha val="70000"/>
            </a:srgbClr>
          </a:solidFill>
          <a:ln w="12700">
            <a:solidFill>
              <a:srgbClr val="1B3A5C"/>
            </a:solidFill>
            <a:prstDash val="solid"/>
          </a:ln>
        </p:spPr>
        <p:txBody>
          <a:bodyPr/>
          <a:lstStyle/>
          <a:p>
            <a:endParaRPr lang="en-IN"/>
          </a:p>
        </p:txBody>
      </p:sp>
      <p:pic>
        <p:nvPicPr>
          <p:cNvPr id="18" name="Image 2" descr="preencoded.png"/>
          <p:cNvPicPr>
            <a:picLocks noChangeAspect="1"/>
          </p:cNvPicPr>
          <p:nvPr/>
        </p:nvPicPr>
        <p:blipFill>
          <a:blip r:embed="rId6"/>
          <a:stretch>
            <a:fillRect/>
          </a:stretch>
        </p:blipFill>
        <p:spPr>
          <a:xfrm>
            <a:off x="6492240" y="1691640"/>
            <a:ext cx="365760" cy="365760"/>
          </a:xfrm>
          <a:prstGeom prst="rect">
            <a:avLst/>
          </a:prstGeom>
        </p:spPr>
      </p:pic>
      <p:sp>
        <p:nvSpPr>
          <p:cNvPr id="19" name="Text 14"/>
          <p:cNvSpPr/>
          <p:nvPr/>
        </p:nvSpPr>
        <p:spPr>
          <a:xfrm>
            <a:off x="6492240" y="2148840"/>
            <a:ext cx="2103120" cy="320040"/>
          </a:xfrm>
          <a:prstGeom prst="rect">
            <a:avLst/>
          </a:prstGeom>
          <a:noFill/>
          <a:ln/>
        </p:spPr>
        <p:txBody>
          <a:bodyPr wrap="square" lIns="0" tIns="0" rIns="0" bIns="0" rtlCol="0" anchor="ctr"/>
          <a:lstStyle/>
          <a:p>
            <a:pPr marL="0" indent="0">
              <a:buNone/>
            </a:pPr>
            <a:r>
              <a:rPr lang="en-US" sz="1400" b="1" dirty="0">
                <a:solidFill>
                  <a:srgbClr val="00D9FF"/>
                </a:solidFill>
                <a:latin typeface="Arial" pitchFamily="34" charset="0"/>
                <a:ea typeface="Arial" pitchFamily="34" charset="-122"/>
                <a:cs typeface="Arial" pitchFamily="34" charset="-120"/>
              </a:rPr>
              <a:t>Affordable Survival</a:t>
            </a:r>
            <a:endParaRPr lang="en-US" sz="1400" dirty="0"/>
          </a:p>
        </p:txBody>
      </p:sp>
      <p:sp>
        <p:nvSpPr>
          <p:cNvPr id="20" name="Text 15"/>
          <p:cNvSpPr/>
          <p:nvPr/>
        </p:nvSpPr>
        <p:spPr>
          <a:xfrm>
            <a:off x="6492240" y="2514600"/>
            <a:ext cx="2103120" cy="914400"/>
          </a:xfrm>
          <a:prstGeom prst="rect">
            <a:avLst/>
          </a:prstGeom>
          <a:noFill/>
          <a:ln/>
        </p:spPr>
        <p:txBody>
          <a:bodyPr wrap="square" lIns="0" tIns="0" rIns="0" bIns="0" rtlCol="0" anchor="ctr"/>
          <a:lstStyle/>
          <a:p>
            <a:pPr marL="0" indent="0">
              <a:buNone/>
            </a:pPr>
            <a:r>
              <a:rPr lang="en-US" sz="1100" dirty="0">
                <a:solidFill>
                  <a:srgbClr val="C8DAEF"/>
                </a:solidFill>
                <a:latin typeface="Arial" pitchFamily="34" charset="0"/>
                <a:ea typeface="Arial" pitchFamily="34" charset="-122"/>
                <a:cs typeface="Arial" pitchFamily="34" charset="-120"/>
              </a:rPr>
              <a:t>Every ₹2,630 invested can protect one more premature infant — scalable to millions</a:t>
            </a:r>
            <a:endParaRPr lang="en-US" sz="1100" dirty="0"/>
          </a:p>
        </p:txBody>
      </p:sp>
      <p:sp>
        <p:nvSpPr>
          <p:cNvPr id="21" name="Text 16"/>
          <p:cNvSpPr/>
          <p:nvPr/>
        </p:nvSpPr>
        <p:spPr>
          <a:xfrm>
            <a:off x="6492240" y="3520440"/>
            <a:ext cx="2103120" cy="548640"/>
          </a:xfrm>
          <a:prstGeom prst="rect">
            <a:avLst/>
          </a:prstGeom>
          <a:noFill/>
          <a:ln/>
        </p:spPr>
        <p:txBody>
          <a:bodyPr wrap="square" lIns="0" tIns="0" rIns="0" bIns="0" rtlCol="0" anchor="ctr"/>
          <a:lstStyle/>
          <a:p>
            <a:pPr marL="0" indent="0">
              <a:buNone/>
            </a:pPr>
            <a:r>
              <a:rPr lang="en-US" sz="3200" b="1" dirty="0">
                <a:solidFill>
                  <a:srgbClr val="00D9FF"/>
                </a:solidFill>
                <a:latin typeface="Arial Black" pitchFamily="34" charset="0"/>
                <a:ea typeface="Arial Black" pitchFamily="34" charset="-122"/>
                <a:cs typeface="Arial Black" pitchFamily="34" charset="-120"/>
              </a:rPr>
              <a:t>1M+</a:t>
            </a:r>
            <a:endParaRPr lang="en-US" sz="3200" dirty="0"/>
          </a:p>
        </p:txBody>
      </p:sp>
      <p:sp>
        <p:nvSpPr>
          <p:cNvPr id="22" name="Text 17"/>
          <p:cNvSpPr/>
          <p:nvPr/>
        </p:nvSpPr>
        <p:spPr>
          <a:xfrm>
            <a:off x="6492240" y="4069080"/>
            <a:ext cx="2103120" cy="502920"/>
          </a:xfrm>
          <a:prstGeom prst="rect">
            <a:avLst/>
          </a:prstGeom>
          <a:noFill/>
          <a:ln/>
        </p:spPr>
        <p:txBody>
          <a:bodyPr wrap="square" lIns="0" tIns="0" rIns="0" bIns="0" rtlCol="0" anchor="ctr"/>
          <a:lstStyle/>
          <a:p>
            <a:pPr marL="0" indent="0">
              <a:buNone/>
            </a:pPr>
            <a:r>
              <a:rPr lang="en-US" sz="1000" dirty="0">
                <a:solidFill>
                  <a:srgbClr val="8BA4C4"/>
                </a:solidFill>
                <a:latin typeface="Arial" pitchFamily="34" charset="0"/>
                <a:ea typeface="Arial" pitchFamily="34" charset="-122"/>
                <a:cs typeface="Arial" pitchFamily="34" charset="-120"/>
              </a:rPr>
              <a:t>lives that could be impacted annually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0000">
              <a:alpha val="70000"/>
            </a:srgbClr>
          </a:solidFill>
          <a:ln/>
        </p:spPr>
        <p:txBody>
          <a:bodyPr/>
          <a:lstStyle/>
          <a:p>
            <a:endParaRPr lang="en-IN"/>
          </a:p>
        </p:txBody>
      </p:sp>
      <p:sp>
        <p:nvSpPr>
          <p:cNvPr id="3" name="Text 1"/>
          <p:cNvSpPr/>
          <p:nvPr/>
        </p:nvSpPr>
        <p:spPr>
          <a:xfrm>
            <a:off x="1371600" y="822960"/>
            <a:ext cx="914400" cy="731520"/>
          </a:xfrm>
          <a:prstGeom prst="rect">
            <a:avLst/>
          </a:prstGeom>
          <a:noFill/>
          <a:ln/>
        </p:spPr>
        <p:txBody>
          <a:bodyPr wrap="square" lIns="0" tIns="0" rIns="0" bIns="0" rtlCol="0" anchor="ctr"/>
          <a:lstStyle/>
          <a:p>
            <a:pPr marL="0" indent="0">
              <a:buNone/>
            </a:pPr>
            <a:r>
              <a:rPr lang="en-US" sz="7200" b="1" dirty="0">
                <a:solidFill>
                  <a:srgbClr val="00D9FF"/>
                </a:solidFill>
                <a:latin typeface="Georgia" pitchFamily="34" charset="0"/>
                <a:ea typeface="Georgia" pitchFamily="34" charset="-122"/>
                <a:cs typeface="Georgia" pitchFamily="34" charset="-120"/>
              </a:rPr>
              <a:t>"</a:t>
            </a:r>
            <a:endParaRPr lang="en-US" sz="7200" dirty="0"/>
          </a:p>
        </p:txBody>
      </p:sp>
      <p:sp>
        <p:nvSpPr>
          <p:cNvPr id="4" name="Text 2"/>
          <p:cNvSpPr/>
          <p:nvPr/>
        </p:nvSpPr>
        <p:spPr>
          <a:xfrm>
            <a:off x="1097280" y="1371600"/>
            <a:ext cx="6949440" cy="1645920"/>
          </a:xfrm>
          <a:prstGeom prst="rect">
            <a:avLst/>
          </a:prstGeom>
          <a:noFill/>
          <a:ln/>
        </p:spPr>
        <p:txBody>
          <a:bodyPr wrap="square" lIns="0" tIns="0" rIns="0" bIns="0" rtlCol="0" anchor="ctr"/>
          <a:lstStyle/>
          <a:p>
            <a:pPr marL="0" indent="0" algn="ctr">
              <a:buNone/>
            </a:pPr>
            <a:r>
              <a:rPr lang="en-US" sz="3600" i="1" dirty="0">
                <a:solidFill>
                  <a:srgbClr val="EAF6FF"/>
                </a:solidFill>
                <a:latin typeface="Georgia" pitchFamily="34" charset="0"/>
                <a:ea typeface="Georgia" pitchFamily="34" charset="-122"/>
                <a:cs typeface="Georgia" pitchFamily="34" charset="-120"/>
              </a:rPr>
              <a:t>Every premature heartbeat</a:t>
            </a:r>
            <a:endParaRPr lang="en-US" sz="3600" dirty="0"/>
          </a:p>
          <a:p>
            <a:pPr marL="0" indent="0" algn="ctr">
              <a:buNone/>
            </a:pPr>
            <a:r>
              <a:rPr lang="en-US" sz="3600" i="1" dirty="0">
                <a:solidFill>
                  <a:srgbClr val="EAF6FF"/>
                </a:solidFill>
                <a:latin typeface="Georgia" pitchFamily="34" charset="0"/>
                <a:ea typeface="Georgia" pitchFamily="34" charset="-122"/>
                <a:cs typeface="Georgia" pitchFamily="34" charset="-120"/>
              </a:rPr>
              <a:t>deserves a future.</a:t>
            </a:r>
            <a:endParaRPr lang="en-US" sz="3600" dirty="0"/>
          </a:p>
        </p:txBody>
      </p:sp>
      <p:sp>
        <p:nvSpPr>
          <p:cNvPr id="5" name="Shape 3"/>
          <p:cNvSpPr/>
          <p:nvPr/>
        </p:nvSpPr>
        <p:spPr>
          <a:xfrm>
            <a:off x="3200400" y="3291840"/>
            <a:ext cx="2743200" cy="54864"/>
          </a:xfrm>
          <a:prstGeom prst="rect">
            <a:avLst/>
          </a:prstGeom>
          <a:solidFill>
            <a:srgbClr val="00D9FF"/>
          </a:solidFill>
          <a:ln/>
        </p:spPr>
        <p:txBody>
          <a:bodyPr/>
          <a:lstStyle/>
          <a:p>
            <a:endParaRPr lang="en-IN"/>
          </a:p>
        </p:txBody>
      </p:sp>
      <p:sp>
        <p:nvSpPr>
          <p:cNvPr id="6" name="Text 4"/>
          <p:cNvSpPr/>
          <p:nvPr/>
        </p:nvSpPr>
        <p:spPr>
          <a:xfrm>
            <a:off x="2286000" y="3474720"/>
            <a:ext cx="4572000" cy="548640"/>
          </a:xfrm>
          <a:prstGeom prst="rect">
            <a:avLst/>
          </a:prstGeom>
          <a:noFill/>
          <a:ln/>
        </p:spPr>
        <p:txBody>
          <a:bodyPr wrap="square" lIns="0" tIns="0" rIns="0" bIns="0" rtlCol="0" anchor="ctr"/>
          <a:lstStyle/>
          <a:p>
            <a:pPr marL="0" indent="0" algn="ctr">
              <a:buNone/>
            </a:pPr>
            <a:r>
              <a:rPr lang="en-US" sz="2400" b="1" kern="0" spc="600" dirty="0">
                <a:solidFill>
                  <a:srgbClr val="00D9FF"/>
                </a:solidFill>
                <a:latin typeface="Arial Black" pitchFamily="34" charset="0"/>
                <a:ea typeface="Arial Black" pitchFamily="34" charset="-122"/>
                <a:cs typeface="Arial Black" pitchFamily="34" charset="-120"/>
              </a:rPr>
              <a:t>NEO-SENTRY 1.0</a:t>
            </a:r>
            <a:endParaRPr lang="en-US" sz="2400" dirty="0"/>
          </a:p>
        </p:txBody>
      </p:sp>
      <p:sp>
        <p:nvSpPr>
          <p:cNvPr id="7" name="Text 5"/>
          <p:cNvSpPr/>
          <p:nvPr/>
        </p:nvSpPr>
        <p:spPr>
          <a:xfrm>
            <a:off x="2286000" y="3977640"/>
            <a:ext cx="4572000" cy="365760"/>
          </a:xfrm>
          <a:prstGeom prst="rect">
            <a:avLst/>
          </a:prstGeom>
          <a:noFill/>
          <a:ln/>
        </p:spPr>
        <p:txBody>
          <a:bodyPr wrap="square" lIns="0" tIns="0" rIns="0" bIns="0" rtlCol="0" anchor="ctr"/>
          <a:lstStyle/>
          <a:p>
            <a:pPr marL="0" indent="0" algn="ctr">
              <a:buNone/>
            </a:pPr>
            <a:r>
              <a:rPr lang="en-US" sz="1400" dirty="0">
                <a:solidFill>
                  <a:srgbClr val="8BA4C4"/>
                </a:solidFill>
                <a:latin typeface="Arial" pitchFamily="34" charset="0"/>
                <a:ea typeface="Arial" pitchFamily="34" charset="-122"/>
                <a:cs typeface="Arial" pitchFamily="34" charset="-120"/>
              </a:rPr>
              <a:t>Touchless Neonatal Intelligence</a:t>
            </a:r>
            <a:endParaRPr lang="en-US" sz="1400" dirty="0"/>
          </a:p>
        </p:txBody>
      </p:sp>
      <p:pic>
        <p:nvPicPr>
          <p:cNvPr id="8" name="Image 0" descr="preencoded.png"/>
          <p:cNvPicPr>
            <a:picLocks noChangeAspect="1"/>
          </p:cNvPicPr>
          <p:nvPr/>
        </p:nvPicPr>
        <p:blipFill>
          <a:blip r:embed="rId4"/>
          <a:stretch>
            <a:fillRect/>
          </a:stretch>
        </p:blipFill>
        <p:spPr>
          <a:xfrm>
            <a:off x="4343400" y="4434840"/>
            <a:ext cx="411480" cy="4114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1020</TotalTime>
  <Words>1656</Words>
  <Application>Microsoft Office PowerPoint</Application>
  <PresentationFormat>On-screen Show (16:9)</PresentationFormat>
  <Paragraphs>140</Paragraphs>
  <Slides>13</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Arial Black</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bhavya raval</dc:creator>
  <cp:lastModifiedBy>bhavya raval</cp:lastModifiedBy>
  <cp:revision>8</cp:revision>
  <dcterms:created xsi:type="dcterms:W3CDTF">2026-05-14T14:47:30Z</dcterms:created>
  <dcterms:modified xsi:type="dcterms:W3CDTF">2026-05-23T17:25:40Z</dcterms:modified>
</cp:coreProperties>
</file>